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6858000" cy="9144000"/>
  <p:embeddedFontLst>
    <p:embeddedFont>
      <p:font typeface="Cantarell"/>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97">
          <p15:clr>
            <a:srgbClr val="A4A3A4"/>
          </p15:clr>
        </p15:guide>
        <p15:guide id="2" pos="405">
          <p15:clr>
            <a:srgbClr val="A4A3A4"/>
          </p15:clr>
        </p15:guide>
        <p15:guide id="3" pos="6494">
          <p15:clr>
            <a:srgbClr val="A4A3A4"/>
          </p15:clr>
        </p15:guide>
        <p15:guide id="4" pos="465">
          <p15:clr>
            <a:srgbClr val="A4A3A4"/>
          </p15:clr>
        </p15:guide>
        <p15:guide id="5" pos="7335">
          <p15:clr>
            <a:srgbClr val="A4A3A4"/>
          </p15:clr>
        </p15:guide>
      </p15:sldGuideLst>
    </p:ext>
    <p:ext uri="GoogleSlidesCustomDataVersion2">
      <go:slidesCustomData xmlns:go="http://customooxmlschemas.google.com/" r:id="rId22" roundtripDataSignature="AMtx7mgdouMza7wPu7HLxAoP9eKZlcE2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97" orient="horz"/>
        <p:guide pos="405"/>
        <p:guide pos="6494"/>
        <p:guide pos="465"/>
        <p:guide pos="7335"/>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antarell-italic.fntdata"/><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font" Target="fonts/Cantarell-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Cantarell-bold.fntdata"/><Relationship Id="rId6" Type="http://schemas.openxmlformats.org/officeDocument/2006/relationships/notesMaster" Target="notesMasters/notesMaster1.xml"/><Relationship Id="rId18" Type="http://schemas.openxmlformats.org/officeDocument/2006/relationships/font" Target="fonts/Cantarell-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type="title">
  <p:cSld name="TITLE">
    <p:spTree>
      <p:nvGrpSpPr>
        <p:cNvPr id="14" name="Shape 14"/>
        <p:cNvGrpSpPr/>
        <p:nvPr/>
      </p:nvGrpSpPr>
      <p:grpSpPr>
        <a:xfrm>
          <a:off x="0" y="0"/>
          <a:ext cx="0" cy="0"/>
          <a:chOff x="0" y="0"/>
          <a:chExt cx="0" cy="0"/>
        </a:xfrm>
      </p:grpSpPr>
      <p:sp>
        <p:nvSpPr>
          <p:cNvPr id="15" name="Google Shape;15;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lt1"/>
              </a:buClr>
              <a:buSzPts val="6000"/>
              <a:buFont typeface="Calibri"/>
              <a:buNone/>
              <a:defRPr b="1" i="0" sz="6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3"/>
          <p:cNvSpPr txBox="1"/>
          <p:nvPr>
            <p:ph idx="10" type="dt"/>
          </p:nvPr>
        </p:nvSpPr>
        <p:spPr>
          <a:xfrm>
            <a:off x="838200" y="6460014"/>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3"/>
          <p:cNvSpPr txBox="1"/>
          <p:nvPr>
            <p:ph idx="11" type="ftr"/>
          </p:nvPr>
        </p:nvSpPr>
        <p:spPr>
          <a:xfrm>
            <a:off x="4038600" y="6460014"/>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13"/>
          <p:cNvSpPr txBox="1"/>
          <p:nvPr>
            <p:ph idx="12" type="sldNum"/>
          </p:nvPr>
        </p:nvSpPr>
        <p:spPr>
          <a:xfrm>
            <a:off x="8610600" y="6460014"/>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el und Inhalt" type="obj">
  <p:cSld name="OBJECT">
    <p:spTree>
      <p:nvGrpSpPr>
        <p:cNvPr id="20" name="Shape 20"/>
        <p:cNvGrpSpPr/>
        <p:nvPr/>
      </p:nvGrpSpPr>
      <p:grpSpPr>
        <a:xfrm>
          <a:off x="0" y="0"/>
          <a:ext cx="0" cy="0"/>
          <a:chOff x="0" y="0"/>
          <a:chExt cx="0" cy="0"/>
        </a:xfrm>
      </p:grpSpPr>
      <p:sp>
        <p:nvSpPr>
          <p:cNvPr id="21" name="Google Shape;21;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4800"/>
              <a:buFont typeface="Calibri"/>
              <a:buNone/>
              <a:defRPr b="1" i="0" sz="48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14"/>
          <p:cNvSpPr txBox="1"/>
          <p:nvPr>
            <p:ph idx="1" type="body"/>
          </p:nvPr>
        </p:nvSpPr>
        <p:spPr>
          <a:xfrm>
            <a:off x="631371" y="2993289"/>
            <a:ext cx="10722429" cy="318367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14"/>
          <p:cNvSpPr txBox="1"/>
          <p:nvPr>
            <p:ph idx="10" type="dt"/>
          </p:nvPr>
        </p:nvSpPr>
        <p:spPr>
          <a:xfrm>
            <a:off x="838200" y="6460014"/>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4"/>
          <p:cNvSpPr txBox="1"/>
          <p:nvPr>
            <p:ph idx="11" type="ftr"/>
          </p:nvPr>
        </p:nvSpPr>
        <p:spPr>
          <a:xfrm>
            <a:off x="4038600" y="6460014"/>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14"/>
          <p:cNvSpPr txBox="1"/>
          <p:nvPr>
            <p:ph idx="12" type="sldNum"/>
          </p:nvPr>
        </p:nvSpPr>
        <p:spPr>
          <a:xfrm>
            <a:off x="8610600" y="6460014"/>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p:cSld name="Titel und Inhalt">
    <p:spTree>
      <p:nvGrpSpPr>
        <p:cNvPr id="26" name="Shape 26"/>
        <p:cNvGrpSpPr/>
        <p:nvPr/>
      </p:nvGrpSpPr>
      <p:grpSpPr>
        <a:xfrm>
          <a:off x="0" y="0"/>
          <a:ext cx="0" cy="0"/>
          <a:chOff x="0" y="0"/>
          <a:chExt cx="0" cy="0"/>
        </a:xfrm>
      </p:grpSpPr>
      <p:sp>
        <p:nvSpPr>
          <p:cNvPr id="27" name="Google Shape;27;p15"/>
          <p:cNvSpPr txBox="1"/>
          <p:nvPr>
            <p:ph type="title"/>
          </p:nvPr>
        </p:nvSpPr>
        <p:spPr>
          <a:xfrm>
            <a:off x="668868" y="0"/>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4800"/>
              <a:buFont typeface="Calibri"/>
              <a:buNone/>
              <a:defRPr b="1" i="0" sz="48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15"/>
          <p:cNvSpPr txBox="1"/>
          <p:nvPr>
            <p:ph idx="1" type="body"/>
          </p:nvPr>
        </p:nvSpPr>
        <p:spPr>
          <a:xfrm>
            <a:off x="631371" y="2993289"/>
            <a:ext cx="10722429" cy="318367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5"/>
          <p:cNvSpPr txBox="1"/>
          <p:nvPr>
            <p:ph idx="10" type="dt"/>
          </p:nvPr>
        </p:nvSpPr>
        <p:spPr>
          <a:xfrm>
            <a:off x="838200" y="6460014"/>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5"/>
          <p:cNvSpPr txBox="1"/>
          <p:nvPr>
            <p:ph idx="11" type="ftr"/>
          </p:nvPr>
        </p:nvSpPr>
        <p:spPr>
          <a:xfrm>
            <a:off x="4038600" y="6460014"/>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15"/>
          <p:cNvSpPr txBox="1"/>
          <p:nvPr>
            <p:ph idx="12" type="sldNum"/>
          </p:nvPr>
        </p:nvSpPr>
        <p:spPr>
          <a:xfrm>
            <a:off x="8610600" y="6460014"/>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32" name="Google Shape;32;p15"/>
          <p:cNvSpPr txBox="1"/>
          <p:nvPr>
            <p:ph idx="2" type="body"/>
          </p:nvPr>
        </p:nvSpPr>
        <p:spPr>
          <a:xfrm>
            <a:off x="668868" y="733425"/>
            <a:ext cx="8262938" cy="5921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FFFFFF"/>
              </a:buClr>
              <a:buSzPts val="2800"/>
              <a:buNone/>
              <a:defRPr>
                <a:solidFill>
                  <a:srgbClr val="FFFFFF"/>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3" type="body"/>
          </p:nvPr>
        </p:nvSpPr>
        <p:spPr>
          <a:xfrm>
            <a:off x="631825" y="2024063"/>
            <a:ext cx="10721975" cy="96922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Font typeface="Arial"/>
              <a:buNone/>
              <a:defRPr b="1" i="1">
                <a:latin typeface="Cantarell"/>
                <a:ea typeface="Cantarell"/>
                <a:cs typeface="Cantarell"/>
                <a:sym typeface="Cantare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10;überschrift" type="secHead">
  <p:cSld name="SECTION_HEADER">
    <p:spTree>
      <p:nvGrpSpPr>
        <p:cNvPr id="34" name="Shape 34"/>
        <p:cNvGrpSpPr/>
        <p:nvPr/>
      </p:nvGrpSpPr>
      <p:grpSpPr>
        <a:xfrm>
          <a:off x="0" y="0"/>
          <a:ext cx="0" cy="0"/>
          <a:chOff x="0" y="0"/>
          <a:chExt cx="0" cy="0"/>
        </a:xfrm>
      </p:grpSpPr>
      <p:sp>
        <p:nvSpPr>
          <p:cNvPr id="35" name="Google Shape;35;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6000"/>
              <a:buFont typeface="Calibri"/>
              <a:buNone/>
              <a:defRPr b="1" i="0" sz="6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6" name="Google Shape;36;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16"/>
          <p:cNvSpPr txBox="1"/>
          <p:nvPr>
            <p:ph idx="10" type="dt"/>
          </p:nvPr>
        </p:nvSpPr>
        <p:spPr>
          <a:xfrm>
            <a:off x="838200" y="6460014"/>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4038600" y="6460014"/>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16"/>
          <p:cNvSpPr txBox="1"/>
          <p:nvPr>
            <p:ph idx="12" type="sldNum"/>
          </p:nvPr>
        </p:nvSpPr>
        <p:spPr>
          <a:xfrm>
            <a:off x="8610600" y="6460014"/>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type="twoObj">
  <p:cSld name="TWO_OBJECTS">
    <p:spTree>
      <p:nvGrpSpPr>
        <p:cNvPr id="40" name="Shape 40"/>
        <p:cNvGrpSpPr/>
        <p:nvPr/>
      </p:nvGrpSpPr>
      <p:grpSpPr>
        <a:xfrm>
          <a:off x="0" y="0"/>
          <a:ext cx="0" cy="0"/>
          <a:chOff x="0" y="0"/>
          <a:chExt cx="0" cy="0"/>
        </a:xfrm>
      </p:grpSpPr>
      <p:sp>
        <p:nvSpPr>
          <p:cNvPr id="41" name="Google Shape;41;p1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4800"/>
              <a:buFont typeface="Calibri"/>
              <a:buNone/>
              <a:defRPr b="1" i="0" sz="48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2" name="Google Shape;42;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txBox="1"/>
          <p:nvPr>
            <p:ph idx="10" type="dt"/>
          </p:nvPr>
        </p:nvSpPr>
        <p:spPr>
          <a:xfrm>
            <a:off x="838200" y="6460014"/>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7"/>
          <p:cNvSpPr txBox="1"/>
          <p:nvPr>
            <p:ph idx="11" type="ftr"/>
          </p:nvPr>
        </p:nvSpPr>
        <p:spPr>
          <a:xfrm>
            <a:off x="4038600" y="6460014"/>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17"/>
          <p:cNvSpPr txBox="1"/>
          <p:nvPr>
            <p:ph idx="12" type="sldNum"/>
          </p:nvPr>
        </p:nvSpPr>
        <p:spPr>
          <a:xfrm>
            <a:off x="8610600" y="6460014"/>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type="twoTxTwoObj">
  <p:cSld name="TWO_OBJECTS_WITH_TEXT">
    <p:spTree>
      <p:nvGrpSpPr>
        <p:cNvPr id="47" name="Shape 47"/>
        <p:cNvGrpSpPr/>
        <p:nvPr/>
      </p:nvGrpSpPr>
      <p:grpSpPr>
        <a:xfrm>
          <a:off x="0" y="0"/>
          <a:ext cx="0" cy="0"/>
          <a:chOff x="0" y="0"/>
          <a:chExt cx="0" cy="0"/>
        </a:xfrm>
      </p:grpSpPr>
      <p:sp>
        <p:nvSpPr>
          <p:cNvPr id="48" name="Google Shape;48;p18"/>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4800"/>
              <a:buFont typeface="Calibri"/>
              <a:buNone/>
              <a:defRPr b="1" i="0" sz="48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9" name="Google Shape;49;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8"/>
          <p:cNvSpPr txBox="1"/>
          <p:nvPr>
            <p:ph idx="10" type="dt"/>
          </p:nvPr>
        </p:nvSpPr>
        <p:spPr>
          <a:xfrm>
            <a:off x="838200" y="6460014"/>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8"/>
          <p:cNvSpPr txBox="1"/>
          <p:nvPr>
            <p:ph idx="11" type="ftr"/>
          </p:nvPr>
        </p:nvSpPr>
        <p:spPr>
          <a:xfrm>
            <a:off x="4038600" y="6460014"/>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8"/>
          <p:cNvSpPr txBox="1"/>
          <p:nvPr>
            <p:ph idx="12" type="sldNum"/>
          </p:nvPr>
        </p:nvSpPr>
        <p:spPr>
          <a:xfrm>
            <a:off x="8610600" y="6460014"/>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56" name="Shape 56"/>
        <p:cNvGrpSpPr/>
        <p:nvPr/>
      </p:nvGrpSpPr>
      <p:grpSpPr>
        <a:xfrm>
          <a:off x="0" y="0"/>
          <a:ext cx="0" cy="0"/>
          <a:chOff x="0" y="0"/>
          <a:chExt cx="0" cy="0"/>
        </a:xfrm>
      </p:grpSpPr>
      <p:sp>
        <p:nvSpPr>
          <p:cNvPr id="57" name="Google Shape;57;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4800"/>
              <a:buFont typeface="Calibri"/>
              <a:buNone/>
              <a:defRPr b="1" i="0" sz="48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8" name="Google Shape;58;p19"/>
          <p:cNvSpPr txBox="1"/>
          <p:nvPr>
            <p:ph idx="10" type="dt"/>
          </p:nvPr>
        </p:nvSpPr>
        <p:spPr>
          <a:xfrm>
            <a:off x="838200" y="6460014"/>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4038600" y="6460014"/>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0" name="Google Shape;60;p19"/>
          <p:cNvSpPr txBox="1"/>
          <p:nvPr>
            <p:ph idx="12" type="sldNum"/>
          </p:nvPr>
        </p:nvSpPr>
        <p:spPr>
          <a:xfrm>
            <a:off x="8610600" y="6460014"/>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61" name="Shape 61"/>
        <p:cNvGrpSpPr/>
        <p:nvPr/>
      </p:nvGrpSpPr>
      <p:grpSpPr>
        <a:xfrm>
          <a:off x="0" y="0"/>
          <a:ext cx="0" cy="0"/>
          <a:chOff x="0" y="0"/>
          <a:chExt cx="0" cy="0"/>
        </a:xfrm>
      </p:grpSpPr>
      <p:sp>
        <p:nvSpPr>
          <p:cNvPr id="62" name="Google Shape;62;p20"/>
          <p:cNvSpPr txBox="1"/>
          <p:nvPr>
            <p:ph idx="10" type="dt"/>
          </p:nvPr>
        </p:nvSpPr>
        <p:spPr>
          <a:xfrm>
            <a:off x="838200" y="6460014"/>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0"/>
          <p:cNvSpPr txBox="1"/>
          <p:nvPr>
            <p:ph idx="11" type="ftr"/>
          </p:nvPr>
        </p:nvSpPr>
        <p:spPr>
          <a:xfrm>
            <a:off x="4038600" y="6460014"/>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p20"/>
          <p:cNvSpPr txBox="1"/>
          <p:nvPr>
            <p:ph idx="12" type="sldNum"/>
          </p:nvPr>
        </p:nvSpPr>
        <p:spPr>
          <a:xfrm>
            <a:off x="8610600" y="6460014"/>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mit Überschrift" type="objTx">
  <p:cSld name="OBJECT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200"/>
              <a:buFont typeface="Calibri"/>
              <a:buNone/>
              <a:defRPr b="1" i="0" sz="3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7" name="Google Shape;67;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838200" y="6460014"/>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1"/>
          <p:cNvSpPr txBox="1"/>
          <p:nvPr>
            <p:ph idx="11" type="ftr"/>
          </p:nvPr>
        </p:nvSpPr>
        <p:spPr>
          <a:xfrm>
            <a:off x="4038600" y="6460014"/>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1"/>
          <p:cNvSpPr txBox="1"/>
          <p:nvPr>
            <p:ph idx="12" type="sldNum"/>
          </p:nvPr>
        </p:nvSpPr>
        <p:spPr>
          <a:xfrm>
            <a:off x="8610600" y="6460014"/>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Überschrift" type="picTx">
  <p:cSld name="PICTURE_WITH_CAPTION_TEXT">
    <p:spTree>
      <p:nvGrpSpPr>
        <p:cNvPr id="72" name="Shape 72"/>
        <p:cNvGrpSpPr/>
        <p:nvPr/>
      </p:nvGrpSpPr>
      <p:grpSpPr>
        <a:xfrm>
          <a:off x="0" y="0"/>
          <a:ext cx="0" cy="0"/>
          <a:chOff x="0" y="0"/>
          <a:chExt cx="0" cy="0"/>
        </a:xfrm>
      </p:grpSpPr>
      <p:sp>
        <p:nvSpPr>
          <p:cNvPr id="73" name="Google Shape;73;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200"/>
              <a:buFont typeface="Calibri"/>
              <a:buNone/>
              <a:defRPr b="1" i="0" sz="3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4" name="Google Shape;74;p22"/>
          <p:cNvSpPr/>
          <p:nvPr>
            <p:ph idx="2" type="pic"/>
          </p:nvPr>
        </p:nvSpPr>
        <p:spPr>
          <a:xfrm>
            <a:off x="5183188" y="987425"/>
            <a:ext cx="6172200" cy="4873625"/>
          </a:xfrm>
          <a:prstGeom prst="rect">
            <a:avLst/>
          </a:prstGeom>
          <a:noFill/>
          <a:ln>
            <a:noFill/>
          </a:ln>
        </p:spPr>
      </p:sp>
      <p:sp>
        <p:nvSpPr>
          <p:cNvPr id="75" name="Google Shape;75;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22"/>
          <p:cNvSpPr txBox="1"/>
          <p:nvPr>
            <p:ph idx="10" type="dt"/>
          </p:nvPr>
        </p:nvSpPr>
        <p:spPr>
          <a:xfrm>
            <a:off x="838200" y="6460014"/>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2"/>
          <p:cNvSpPr txBox="1"/>
          <p:nvPr>
            <p:ph idx="11" type="ftr"/>
          </p:nvPr>
        </p:nvSpPr>
        <p:spPr>
          <a:xfrm>
            <a:off x="4038600" y="6460014"/>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22"/>
          <p:cNvSpPr txBox="1"/>
          <p:nvPr>
            <p:ph idx="12" type="sldNum"/>
          </p:nvPr>
        </p:nvSpPr>
        <p:spPr>
          <a:xfrm>
            <a:off x="8610600" y="6460014"/>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p:cSld name="Titelfolie">
    <p:spTree>
      <p:nvGrpSpPr>
        <p:cNvPr id="86" name="Shape 86"/>
        <p:cNvGrpSpPr/>
        <p:nvPr/>
      </p:nvGrpSpPr>
      <p:grpSpPr>
        <a:xfrm>
          <a:off x="0" y="0"/>
          <a:ext cx="0" cy="0"/>
          <a:chOff x="0" y="0"/>
          <a:chExt cx="0" cy="0"/>
        </a:xfrm>
      </p:grpSpPr>
      <p:sp>
        <p:nvSpPr>
          <p:cNvPr id="87" name="Google Shape;87;p24"/>
          <p:cNvSpPr txBox="1"/>
          <p:nvPr>
            <p:ph idx="1" type="subTitle"/>
          </p:nvPr>
        </p:nvSpPr>
        <p:spPr>
          <a:xfrm>
            <a:off x="1828800" y="5636712"/>
            <a:ext cx="8534400" cy="1221288"/>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8.jpg"/><Relationship Id="rId2" Type="http://schemas.openxmlformats.org/officeDocument/2006/relationships/slideLayout" Target="../slideLayouts/slideLayout1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2"/>
          <p:cNvPicPr preferRelativeResize="0"/>
          <p:nvPr/>
        </p:nvPicPr>
        <p:blipFill rotWithShape="1">
          <a:blip r:embed="rId1">
            <a:alphaModFix/>
          </a:blip>
          <a:srcRect b="0" l="0" r="0" t="0"/>
          <a:stretch/>
        </p:blipFill>
        <p:spPr>
          <a:xfrm>
            <a:off x="0" y="2417"/>
            <a:ext cx="12192000" cy="6858000"/>
          </a:xfrm>
          <a:prstGeom prst="rect">
            <a:avLst/>
          </a:prstGeom>
          <a:noFill/>
          <a:ln>
            <a:noFill/>
          </a:ln>
        </p:spPr>
      </p:pic>
      <p:sp>
        <p:nvSpPr>
          <p:cNvPr id="11" name="Google Shape;11;p12"/>
          <p:cNvSpPr txBox="1"/>
          <p:nvPr>
            <p:ph idx="1" type="body"/>
          </p:nvPr>
        </p:nvSpPr>
        <p:spPr>
          <a:xfrm>
            <a:off x="631371" y="2993289"/>
            <a:ext cx="10722429" cy="318367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838200" y="6460014"/>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p:nvPr/>
        </p:nvSpPr>
        <p:spPr>
          <a:xfrm>
            <a:off x="0" y="1333500"/>
            <a:ext cx="12192000" cy="5126514"/>
          </a:xfrm>
          <a:prstGeom prst="rect">
            <a:avLst/>
          </a:prstGeom>
          <a:gradFill>
            <a:gsLst>
              <a:gs pos="0">
                <a:srgbClr val="A5A5A5"/>
              </a:gs>
              <a:gs pos="34000">
                <a:srgbClr val="EFEFEF"/>
              </a:gs>
              <a:gs pos="65000">
                <a:srgbClr val="EFEFEF"/>
              </a:gs>
              <a:gs pos="100000">
                <a:srgbClr val="D8D8D8"/>
              </a:gs>
            </a:gsLst>
            <a:lin ang="5400000" scaled="0"/>
          </a:gradFill>
          <a:ln cap="flat" cmpd="sng" w="12700">
            <a:solidFill>
              <a:srgbClr val="A1A1A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 name="Shape 79"/>
        <p:cNvGrpSpPr/>
        <p:nvPr/>
      </p:nvGrpSpPr>
      <p:grpSpPr>
        <a:xfrm>
          <a:off x="0" y="0"/>
          <a:ext cx="0" cy="0"/>
          <a:chOff x="0" y="0"/>
          <a:chExt cx="0" cy="0"/>
        </a:xfrm>
      </p:grpSpPr>
      <p:sp>
        <p:nvSpPr>
          <p:cNvPr id="80" name="Google Shape;80;p2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1" name="Google Shape;81;p23"/>
          <p:cNvSpPr txBox="1"/>
          <p:nvPr>
            <p:ph idx="1" type="body"/>
          </p:nvPr>
        </p:nvSpPr>
        <p:spPr>
          <a:xfrm>
            <a:off x="609600" y="1600200"/>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2" name="Google Shape;82;p23"/>
          <p:cNvSpPr txBox="1"/>
          <p:nvPr>
            <p:ph idx="10" type="dt"/>
          </p:nvPr>
        </p:nvSpPr>
        <p:spPr>
          <a:xfrm>
            <a:off x="609600" y="6356350"/>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23"/>
          <p:cNvSpPr txBox="1"/>
          <p:nvPr>
            <p:ph idx="11" type="ftr"/>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p23"/>
          <p:cNvSpPr txBox="1"/>
          <p:nvPr>
            <p:ph idx="12" type="sldNum"/>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85" name="Google Shape;85;p23"/>
          <p:cNvPicPr preferRelativeResize="0"/>
          <p:nvPr/>
        </p:nvPicPr>
        <p:blipFill rotWithShape="1">
          <a:blip r:embed="rId1">
            <a:alphaModFix/>
          </a:blip>
          <a:srcRect b="0" l="0" r="0" t="0"/>
          <a:stretch/>
        </p:blipFill>
        <p:spPr>
          <a:xfrm>
            <a:off x="0" y="0"/>
            <a:ext cx="1219200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22.jp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7.png"/><Relationship Id="rId13" Type="http://schemas.openxmlformats.org/officeDocument/2006/relationships/image" Target="../media/image13.png"/><Relationship Id="rId12"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0.png"/><Relationship Id="rId9" Type="http://schemas.openxmlformats.org/officeDocument/2006/relationships/image" Target="../media/image12.jpg"/><Relationship Id="rId1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22.jpg"/><Relationship Id="rId8"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0"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2.jpg"/><Relationship Id="rId4" Type="http://schemas.openxmlformats.org/officeDocument/2006/relationships/image" Target="../media/image15.png"/><Relationship Id="rId9" Type="http://schemas.openxmlformats.org/officeDocument/2006/relationships/image" Target="../media/image13.png"/><Relationship Id="rId5" Type="http://schemas.openxmlformats.org/officeDocument/2006/relationships/image" Target="../media/image12.jpg"/><Relationship Id="rId6" Type="http://schemas.openxmlformats.org/officeDocument/2006/relationships/image" Target="../media/image7.png"/><Relationship Id="rId7" Type="http://schemas.openxmlformats.org/officeDocument/2006/relationships/image" Target="../media/image17.png"/><Relationship Id="rId8" Type="http://schemas.openxmlformats.org/officeDocument/2006/relationships/image" Target="../media/image4.png"/></Relationships>
</file>

<file path=ppt/slides/_rels/slide5.xml.rels><?xml version="1.0" encoding="UTF-8" standalone="yes"?><Relationships xmlns="http://schemas.openxmlformats.org/package/2006/relationships"><Relationship Id="rId10"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jpg"/><Relationship Id="rId4" Type="http://schemas.openxmlformats.org/officeDocument/2006/relationships/image" Target="../media/image15.png"/><Relationship Id="rId9" Type="http://schemas.openxmlformats.org/officeDocument/2006/relationships/image" Target="../media/image13.png"/><Relationship Id="rId5" Type="http://schemas.openxmlformats.org/officeDocument/2006/relationships/image" Target="../media/image12.jpg"/><Relationship Id="rId6" Type="http://schemas.openxmlformats.org/officeDocument/2006/relationships/image" Target="../media/image7.png"/><Relationship Id="rId7" Type="http://schemas.openxmlformats.org/officeDocument/2006/relationships/image" Target="../media/image17.png"/><Relationship Id="rId8" Type="http://schemas.openxmlformats.org/officeDocument/2006/relationships/image" Target="../media/image4.png"/></Relationships>
</file>

<file path=ppt/slides/_rels/slide6.xml.rels><?xml version="1.0" encoding="UTF-8" standalone="yes"?><Relationships xmlns="http://schemas.openxmlformats.org/package/2006/relationships"><Relationship Id="rId10"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jpg"/><Relationship Id="rId4" Type="http://schemas.openxmlformats.org/officeDocument/2006/relationships/image" Target="../media/image15.png"/><Relationship Id="rId9" Type="http://schemas.openxmlformats.org/officeDocument/2006/relationships/image" Target="../media/image13.png"/><Relationship Id="rId5" Type="http://schemas.openxmlformats.org/officeDocument/2006/relationships/image" Target="../media/image12.jpg"/><Relationship Id="rId6" Type="http://schemas.openxmlformats.org/officeDocument/2006/relationships/image" Target="../media/image7.png"/><Relationship Id="rId7" Type="http://schemas.openxmlformats.org/officeDocument/2006/relationships/image" Target="../media/image17.png"/><Relationship Id="rId8"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1" Type="http://schemas.openxmlformats.org/officeDocument/2006/relationships/image" Target="../media/image31.png"/><Relationship Id="rId10" Type="http://schemas.openxmlformats.org/officeDocument/2006/relationships/image" Target="../media/image8.png"/><Relationship Id="rId12" Type="http://schemas.openxmlformats.org/officeDocument/2006/relationships/image" Target="../media/image29.png"/><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2.jpg"/><Relationship Id="rId4" Type="http://schemas.openxmlformats.org/officeDocument/2006/relationships/image" Target="../media/image15.png"/><Relationship Id="rId9" Type="http://schemas.openxmlformats.org/officeDocument/2006/relationships/image" Target="../media/image13.png"/><Relationship Id="rId5" Type="http://schemas.openxmlformats.org/officeDocument/2006/relationships/image" Target="../media/image12.jpg"/><Relationship Id="rId6" Type="http://schemas.openxmlformats.org/officeDocument/2006/relationships/image" Target="../media/image7.png"/><Relationship Id="rId7" Type="http://schemas.openxmlformats.org/officeDocument/2006/relationships/image" Target="../media/image17.png"/><Relationship Id="rId8" Type="http://schemas.openxmlformats.org/officeDocument/2006/relationships/image" Target="../media/image4.png"/></Relationships>
</file>

<file path=ppt/slides/_rels/slide9.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8.png"/><Relationship Id="rId12" Type="http://schemas.openxmlformats.org/officeDocument/2006/relationships/image" Target="../media/image26.png"/><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2.jpg"/><Relationship Id="rId4" Type="http://schemas.openxmlformats.org/officeDocument/2006/relationships/image" Target="../media/image15.png"/><Relationship Id="rId9" Type="http://schemas.openxmlformats.org/officeDocument/2006/relationships/image" Target="../media/image13.png"/><Relationship Id="rId5" Type="http://schemas.openxmlformats.org/officeDocument/2006/relationships/image" Target="../media/image12.jpg"/><Relationship Id="rId6" Type="http://schemas.openxmlformats.org/officeDocument/2006/relationships/image" Target="../media/image7.png"/><Relationship Id="rId7" Type="http://schemas.openxmlformats.org/officeDocument/2006/relationships/image" Target="../media/image17.png"/><Relationship Id="rId8" Type="http://schemas.openxmlformats.org/officeDocument/2006/relationships/image" Target="../media/image4.png"/></Relationships>
</file>

<file path=ppt/slides/_rels/slide10.xml.rels><?xml version="1.0" encoding="UTF-8" standalone="yes"?><Relationships xmlns="http://schemas.openxmlformats.org/package/2006/relationships"><Relationship Id="rId10"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2.jpg"/><Relationship Id="rId4" Type="http://schemas.openxmlformats.org/officeDocument/2006/relationships/image" Target="../media/image15.png"/><Relationship Id="rId9" Type="http://schemas.openxmlformats.org/officeDocument/2006/relationships/image" Target="../media/image13.png"/><Relationship Id="rId5" Type="http://schemas.openxmlformats.org/officeDocument/2006/relationships/image" Target="../media/image12.jpg"/><Relationship Id="rId6" Type="http://schemas.openxmlformats.org/officeDocument/2006/relationships/image" Target="../media/image7.png"/><Relationship Id="rId7" Type="http://schemas.openxmlformats.org/officeDocument/2006/relationships/image" Target="../media/image17.png"/><Relationship Id="rId8" Type="http://schemas.openxmlformats.org/officeDocument/2006/relationships/image" Target="../media/image4.png"/></Relationships>
</file>

<file path=ppt/slides/_rels/slide11.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17.png"/><Relationship Id="rId13" Type="http://schemas.openxmlformats.org/officeDocument/2006/relationships/image" Target="../media/image8.png"/><Relationship Id="rId12"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3.png"/><Relationship Id="rId9" Type="http://schemas.openxmlformats.org/officeDocument/2006/relationships/image" Target="../media/image7.png"/><Relationship Id="rId5" Type="http://schemas.openxmlformats.org/officeDocument/2006/relationships/image" Target="../media/image30.png"/><Relationship Id="rId6" Type="http://schemas.openxmlformats.org/officeDocument/2006/relationships/image" Target="../media/image22.jpg"/><Relationship Id="rId7" Type="http://schemas.openxmlformats.org/officeDocument/2006/relationships/image" Target="../media/image15.png"/><Relationship Id="rId8"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ph type="ctrTitle"/>
          </p:nvPr>
        </p:nvSpPr>
        <p:spPr>
          <a:xfrm>
            <a:off x="233694" y="1856484"/>
            <a:ext cx="10608477" cy="1281771"/>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alibri"/>
              <a:buNone/>
            </a:pPr>
            <a:r>
              <a:rPr lang="en-US" sz="4000">
                <a:solidFill>
                  <a:schemeClr val="dk1"/>
                </a:solidFill>
              </a:rPr>
              <a:t>Implementing collaboration between clients and NCC &amp; EDIH-IS for HPC and AI.</a:t>
            </a:r>
            <a:endParaRPr sz="4000">
              <a:solidFill>
                <a:schemeClr val="dk1"/>
              </a:solidFill>
            </a:endParaRPr>
          </a:p>
        </p:txBody>
      </p:sp>
      <p:sp>
        <p:nvSpPr>
          <p:cNvPr id="93" name="Google Shape;93;p1"/>
          <p:cNvSpPr txBox="1"/>
          <p:nvPr>
            <p:ph idx="1" type="subTitle"/>
          </p:nvPr>
        </p:nvSpPr>
        <p:spPr>
          <a:xfrm>
            <a:off x="260195" y="4168404"/>
            <a:ext cx="11931805" cy="116559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00000"/>
              </a:buClr>
              <a:buSzPts val="2400"/>
              <a:buNone/>
            </a:pPr>
            <a:r>
              <a:rPr lang="en-US">
                <a:solidFill>
                  <a:srgbClr val="C00000"/>
                </a:solidFill>
              </a:rPr>
              <a:t>Ingólfur</a:t>
            </a:r>
            <a:endParaRPr/>
          </a:p>
          <a:p>
            <a:pPr indent="0" lvl="0" marL="0" rtl="0" algn="l">
              <a:lnSpc>
                <a:spcPct val="90000"/>
              </a:lnSpc>
              <a:spcBef>
                <a:spcPts val="1000"/>
              </a:spcBef>
              <a:spcAft>
                <a:spcPts val="0"/>
              </a:spcAft>
              <a:buClr>
                <a:srgbClr val="C00000"/>
              </a:buClr>
              <a:buSzPts val="2400"/>
              <a:buNone/>
            </a:pPr>
            <a:r>
              <a:rPr lang="en-US">
                <a:solidFill>
                  <a:srgbClr val="C00000"/>
                </a:solidFill>
              </a:rPr>
              <a:t>Department of Computer Science, University</a:t>
            </a:r>
            <a:endParaRPr/>
          </a:p>
        </p:txBody>
      </p:sp>
      <p:pic>
        <p:nvPicPr>
          <p:cNvPr id="94" name="Google Shape;94;p1"/>
          <p:cNvPicPr preferRelativeResize="0"/>
          <p:nvPr/>
        </p:nvPicPr>
        <p:blipFill rotWithShape="1">
          <a:blip r:embed="rId3">
            <a:alphaModFix/>
          </a:blip>
          <a:srcRect b="0" l="0" r="0" t="0"/>
          <a:stretch/>
        </p:blipFill>
        <p:spPr>
          <a:xfrm>
            <a:off x="-39034" y="105508"/>
            <a:ext cx="2797869" cy="1064861"/>
          </a:xfrm>
          <a:prstGeom prst="rect">
            <a:avLst/>
          </a:prstGeom>
          <a:noFill/>
          <a:ln>
            <a:noFill/>
          </a:ln>
        </p:spPr>
      </p:pic>
      <p:pic>
        <p:nvPicPr>
          <p:cNvPr descr="A picture containing text&#10;&#10;Description automatically generated" id="95" name="Google Shape;95;p1"/>
          <p:cNvPicPr preferRelativeResize="0"/>
          <p:nvPr/>
        </p:nvPicPr>
        <p:blipFill rotWithShape="1">
          <a:blip r:embed="rId4">
            <a:alphaModFix/>
          </a:blip>
          <a:srcRect b="0" l="0" r="0" t="0"/>
          <a:stretch/>
        </p:blipFill>
        <p:spPr>
          <a:xfrm>
            <a:off x="2856329" y="228288"/>
            <a:ext cx="2294902" cy="824594"/>
          </a:xfrm>
          <a:prstGeom prst="rect">
            <a:avLst/>
          </a:prstGeom>
          <a:noFill/>
          <a:ln>
            <a:noFill/>
          </a:ln>
        </p:spPr>
      </p:pic>
      <p:pic>
        <p:nvPicPr>
          <p:cNvPr descr="University of Iceland" id="96" name="Google Shape;96;p1"/>
          <p:cNvPicPr preferRelativeResize="0"/>
          <p:nvPr/>
        </p:nvPicPr>
        <p:blipFill rotWithShape="1">
          <a:blip r:embed="rId5">
            <a:alphaModFix/>
          </a:blip>
          <a:srcRect b="0" l="0" r="0" t="0"/>
          <a:stretch/>
        </p:blipFill>
        <p:spPr>
          <a:xfrm>
            <a:off x="5243051" y="228288"/>
            <a:ext cx="1607455" cy="824594"/>
          </a:xfrm>
          <a:prstGeom prst="rect">
            <a:avLst/>
          </a:prstGeom>
          <a:noFill/>
          <a:ln>
            <a:noFill/>
          </a:ln>
        </p:spPr>
      </p:pic>
      <p:sp>
        <p:nvSpPr>
          <p:cNvPr id="97" name="Google Shape;97;p1"/>
          <p:cNvSpPr txBox="1"/>
          <p:nvPr/>
        </p:nvSpPr>
        <p:spPr>
          <a:xfrm>
            <a:off x="233694" y="5465483"/>
            <a:ext cx="896000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Datathon Hagstofan, Iceland 2025</a:t>
            </a:r>
            <a:endParaRPr/>
          </a:p>
        </p:txBody>
      </p:sp>
      <p:pic>
        <p:nvPicPr>
          <p:cNvPr descr="A logo on a brown background&#10;&#10;Description automatically generated" id="98" name="Google Shape;98;p1"/>
          <p:cNvPicPr preferRelativeResize="0"/>
          <p:nvPr/>
        </p:nvPicPr>
        <p:blipFill rotWithShape="1">
          <a:blip r:embed="rId6">
            <a:alphaModFix/>
          </a:blip>
          <a:srcRect b="0" l="0" r="0" t="0"/>
          <a:stretch/>
        </p:blipFill>
        <p:spPr>
          <a:xfrm>
            <a:off x="9109118" y="148332"/>
            <a:ext cx="983414" cy="1089077"/>
          </a:xfrm>
          <a:prstGeom prst="rect">
            <a:avLst/>
          </a:prstGeom>
          <a:noFill/>
          <a:ln>
            <a:noFill/>
          </a:ln>
        </p:spPr>
      </p:pic>
      <p:pic>
        <p:nvPicPr>
          <p:cNvPr id="99" name="Google Shape;99;p1"/>
          <p:cNvPicPr preferRelativeResize="0"/>
          <p:nvPr/>
        </p:nvPicPr>
        <p:blipFill rotWithShape="1">
          <a:blip r:embed="rId7">
            <a:alphaModFix/>
          </a:blip>
          <a:srcRect b="0" l="0" r="0" t="0"/>
          <a:stretch/>
        </p:blipFill>
        <p:spPr>
          <a:xfrm>
            <a:off x="11649052" y="750649"/>
            <a:ext cx="164506" cy="22829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521942" y="1498345"/>
            <a:ext cx="3200400" cy="44611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Times New Roman"/>
              <a:buNone/>
            </a:pPr>
            <a:r>
              <a:rPr b="0" lang="en-US">
                <a:solidFill>
                  <a:schemeClr val="dk1"/>
                </a:solidFill>
                <a:latin typeface="Times New Roman"/>
                <a:ea typeface="Times New Roman"/>
                <a:cs typeface="Times New Roman"/>
                <a:sym typeface="Times New Roman"/>
              </a:rPr>
              <a:t>What kind of AI is useful for a small-data society?</a:t>
            </a:r>
            <a:endParaRPr/>
          </a:p>
        </p:txBody>
      </p:sp>
      <p:grpSp>
        <p:nvGrpSpPr>
          <p:cNvPr id="105" name="Google Shape;105;p2"/>
          <p:cNvGrpSpPr/>
          <p:nvPr/>
        </p:nvGrpSpPr>
        <p:grpSpPr>
          <a:xfrm>
            <a:off x="4357367" y="2190250"/>
            <a:ext cx="6906491" cy="3369414"/>
            <a:chOff x="0" y="811155"/>
            <a:chExt cx="6906491" cy="3369414"/>
          </a:xfrm>
        </p:grpSpPr>
        <p:sp>
          <p:nvSpPr>
            <p:cNvPr id="106" name="Google Shape;106;p2"/>
            <p:cNvSpPr/>
            <p:nvPr/>
          </p:nvSpPr>
          <p:spPr>
            <a:xfrm>
              <a:off x="0" y="811155"/>
              <a:ext cx="6906491" cy="1497517"/>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452999" y="1148096"/>
              <a:ext cx="823634" cy="823634"/>
            </a:xfrm>
            <a:prstGeom prst="rect">
              <a:avLst/>
            </a:prstGeom>
            <a:blipFill rotWithShape="1">
              <a:blip r:embed="rId3">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1729633" y="811155"/>
              <a:ext cx="3107920" cy="149751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txBox="1"/>
            <p:nvPr/>
          </p:nvSpPr>
          <p:spPr>
            <a:xfrm>
              <a:off x="1729633" y="811155"/>
              <a:ext cx="3107920" cy="1497517"/>
            </a:xfrm>
            <a:prstGeom prst="rect">
              <a:avLst/>
            </a:prstGeom>
            <a:noFill/>
            <a:ln>
              <a:noFill/>
            </a:ln>
          </p:spPr>
          <p:txBody>
            <a:bodyPr anchorCtr="0" anchor="ctr" bIns="158475" lIns="158475" spcFirstLastPara="1" rIns="158475" wrap="square" tIns="158475">
              <a:noAutofit/>
            </a:bodyPr>
            <a:lstStyle/>
            <a:p>
              <a:pPr indent="0" lvl="0" marL="0" marR="0" rtl="0" algn="l">
                <a:lnSpc>
                  <a:spcPct val="100000"/>
                </a:lnSpc>
                <a:spcBef>
                  <a:spcPts val="0"/>
                </a:spcBef>
                <a:spcAft>
                  <a:spcPts val="0"/>
                </a:spcAft>
                <a:buClr>
                  <a:schemeClr val="dk1"/>
                </a:buClr>
                <a:buSzPts val="2500"/>
                <a:buFont typeface="Calibri"/>
                <a:buNone/>
              </a:pPr>
              <a:r>
                <a:rPr lang="en-US" sz="2500">
                  <a:solidFill>
                    <a:schemeClr val="dk1"/>
                  </a:solidFill>
                  <a:latin typeface="Calibri"/>
                  <a:ea typeface="Calibri"/>
                  <a:cs typeface="Calibri"/>
                  <a:sym typeface="Calibri"/>
                </a:rPr>
                <a:t>Need for small-data automation</a:t>
              </a:r>
              <a:endParaRPr sz="2500">
                <a:solidFill>
                  <a:schemeClr val="dk1"/>
                </a:solidFill>
                <a:latin typeface="Calibri"/>
                <a:ea typeface="Calibri"/>
                <a:cs typeface="Calibri"/>
                <a:sym typeface="Calibri"/>
              </a:endParaRPr>
            </a:p>
          </p:txBody>
        </p:sp>
        <p:sp>
          <p:nvSpPr>
            <p:cNvPr id="110" name="Google Shape;110;p2"/>
            <p:cNvSpPr/>
            <p:nvPr/>
          </p:nvSpPr>
          <p:spPr>
            <a:xfrm>
              <a:off x="4837554" y="811155"/>
              <a:ext cx="2068936" cy="149751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txBox="1"/>
            <p:nvPr/>
          </p:nvSpPr>
          <p:spPr>
            <a:xfrm>
              <a:off x="4837554" y="811155"/>
              <a:ext cx="2068936" cy="1497517"/>
            </a:xfrm>
            <a:prstGeom prst="rect">
              <a:avLst/>
            </a:prstGeom>
            <a:noFill/>
            <a:ln>
              <a:noFill/>
            </a:ln>
          </p:spPr>
          <p:txBody>
            <a:bodyPr anchorCtr="0" anchor="ctr" bIns="158475" lIns="158475" spcFirstLastPara="1" rIns="158475" wrap="square" tIns="158475">
              <a:noAutofit/>
            </a:bodyPr>
            <a:lstStyle/>
            <a:p>
              <a:pPr indent="0" lvl="0" marL="0" marR="0" rtl="0" algn="l">
                <a:lnSpc>
                  <a:spcPct val="100000"/>
                </a:lnSpc>
                <a:spcBef>
                  <a:spcPts val="0"/>
                </a:spcBef>
                <a:spcAft>
                  <a:spcPts val="0"/>
                </a:spcAft>
                <a:buClr>
                  <a:schemeClr val="dk1"/>
                </a:buClr>
                <a:buSzPts val="1100"/>
                <a:buFont typeface="Calibri"/>
                <a:buNone/>
              </a:pPr>
              <a:r>
                <a:rPr lang="en-US" sz="1100">
                  <a:solidFill>
                    <a:schemeClr val="dk1"/>
                  </a:solidFill>
                  <a:latin typeface="Calibri"/>
                  <a:ea typeface="Calibri"/>
                  <a:cs typeface="Calibri"/>
                  <a:sym typeface="Calibri"/>
                </a:rPr>
                <a:t>Iceland and population base (Iceland vs. Denmark, Finland vs. California)</a:t>
              </a:r>
              <a:endParaRPr sz="1100">
                <a:solidFill>
                  <a:schemeClr val="dk1"/>
                </a:solidFill>
                <a:latin typeface="Calibri"/>
                <a:ea typeface="Calibri"/>
                <a:cs typeface="Calibri"/>
                <a:sym typeface="Calibri"/>
              </a:endParaRPr>
            </a:p>
            <a:p>
              <a:pPr indent="0" lvl="0" marL="0" marR="0" rtl="0" algn="l">
                <a:lnSpc>
                  <a:spcPct val="100000"/>
                </a:lnSpc>
                <a:spcBef>
                  <a:spcPts val="385"/>
                </a:spcBef>
                <a:spcAft>
                  <a:spcPts val="0"/>
                </a:spcAft>
                <a:buClr>
                  <a:schemeClr val="dk1"/>
                </a:buClr>
                <a:buSzPts val="1100"/>
                <a:buFont typeface="Calibri"/>
                <a:buNone/>
              </a:pPr>
              <a:r>
                <a:rPr lang="en-US" sz="1100">
                  <a:solidFill>
                    <a:schemeClr val="dk1"/>
                  </a:solidFill>
                  <a:latin typeface="Calibri"/>
                  <a:ea typeface="Calibri"/>
                  <a:cs typeface="Calibri"/>
                  <a:sym typeface="Calibri"/>
                </a:rPr>
                <a:t>SMEs </a:t>
              </a:r>
              <a:endParaRPr sz="1100">
                <a:solidFill>
                  <a:schemeClr val="dk1"/>
                </a:solidFill>
                <a:latin typeface="Calibri"/>
                <a:ea typeface="Calibri"/>
                <a:cs typeface="Calibri"/>
                <a:sym typeface="Calibri"/>
              </a:endParaRPr>
            </a:p>
            <a:p>
              <a:pPr indent="0" lvl="0" marL="0" marR="0" rtl="0" algn="l">
                <a:lnSpc>
                  <a:spcPct val="100000"/>
                </a:lnSpc>
                <a:spcBef>
                  <a:spcPts val="385"/>
                </a:spcBef>
                <a:spcAft>
                  <a:spcPts val="0"/>
                </a:spcAft>
                <a:buClr>
                  <a:schemeClr val="dk1"/>
                </a:buClr>
                <a:buSzPts val="1100"/>
                <a:buFont typeface="Calibri"/>
                <a:buNone/>
              </a:pPr>
              <a:r>
                <a:rPr lang="en-US" sz="1100">
                  <a:solidFill>
                    <a:schemeClr val="dk1"/>
                  </a:solidFill>
                  <a:latin typeface="Calibri"/>
                  <a:ea typeface="Calibri"/>
                  <a:cs typeface="Calibri"/>
                  <a:sym typeface="Calibri"/>
                </a:rPr>
                <a:t>Deep/recurrent/... neural networks: "Big-data" solutions</a:t>
              </a:r>
              <a:endParaRPr sz="1100">
                <a:solidFill>
                  <a:schemeClr val="dk1"/>
                </a:solidFill>
                <a:latin typeface="Calibri"/>
                <a:ea typeface="Calibri"/>
                <a:cs typeface="Calibri"/>
                <a:sym typeface="Calibri"/>
              </a:endParaRPr>
            </a:p>
          </p:txBody>
        </p:sp>
        <p:sp>
          <p:nvSpPr>
            <p:cNvPr id="112" name="Google Shape;112;p2"/>
            <p:cNvSpPr/>
            <p:nvPr/>
          </p:nvSpPr>
          <p:spPr>
            <a:xfrm>
              <a:off x="0" y="2683052"/>
              <a:ext cx="6906491" cy="1497517"/>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452999" y="3019994"/>
              <a:ext cx="823634" cy="823634"/>
            </a:xfrm>
            <a:prstGeom prst="rect">
              <a:avLst/>
            </a:prstGeom>
            <a:blipFill rotWithShape="1">
              <a:blip r:embed="rId4">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1729633" y="2683052"/>
              <a:ext cx="3107920" cy="149751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txBox="1"/>
            <p:nvPr/>
          </p:nvSpPr>
          <p:spPr>
            <a:xfrm>
              <a:off x="1729633" y="2683052"/>
              <a:ext cx="3107920" cy="1497517"/>
            </a:xfrm>
            <a:prstGeom prst="rect">
              <a:avLst/>
            </a:prstGeom>
            <a:noFill/>
            <a:ln>
              <a:noFill/>
            </a:ln>
          </p:spPr>
          <p:txBody>
            <a:bodyPr anchorCtr="0" anchor="ctr" bIns="158475" lIns="158475" spcFirstLastPara="1" rIns="158475" wrap="square" tIns="158475">
              <a:noAutofit/>
            </a:bodyPr>
            <a:lstStyle/>
            <a:p>
              <a:pPr indent="0" lvl="0" marL="0" marR="0" rtl="0" algn="l">
                <a:lnSpc>
                  <a:spcPct val="100000"/>
                </a:lnSpc>
                <a:spcBef>
                  <a:spcPts val="0"/>
                </a:spcBef>
                <a:spcAft>
                  <a:spcPts val="0"/>
                </a:spcAft>
                <a:buClr>
                  <a:schemeClr val="dk1"/>
                </a:buClr>
                <a:buSzPts val="2500"/>
                <a:buFont typeface="Calibri"/>
                <a:buNone/>
              </a:pPr>
              <a:r>
                <a:rPr lang="en-US" sz="2500">
                  <a:solidFill>
                    <a:schemeClr val="dk1"/>
                  </a:solidFill>
                  <a:latin typeface="Calibri"/>
                  <a:ea typeface="Calibri"/>
                  <a:cs typeface="Calibri"/>
                  <a:sym typeface="Calibri"/>
                </a:rPr>
                <a:t>Solution: Intelligent reasoning </a:t>
              </a:r>
              <a:endParaRPr/>
            </a:p>
          </p:txBody>
        </p:sp>
        <p:sp>
          <p:nvSpPr>
            <p:cNvPr id="116" name="Google Shape;116;p2"/>
            <p:cNvSpPr/>
            <p:nvPr/>
          </p:nvSpPr>
          <p:spPr>
            <a:xfrm>
              <a:off x="4837554" y="2683052"/>
              <a:ext cx="2068936" cy="149751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txBox="1"/>
            <p:nvPr/>
          </p:nvSpPr>
          <p:spPr>
            <a:xfrm>
              <a:off x="4837554" y="2683052"/>
              <a:ext cx="2068936" cy="1497517"/>
            </a:xfrm>
            <a:prstGeom prst="rect">
              <a:avLst/>
            </a:prstGeom>
            <a:noFill/>
            <a:ln>
              <a:noFill/>
            </a:ln>
          </p:spPr>
          <p:txBody>
            <a:bodyPr anchorCtr="0" anchor="ctr" bIns="158475" lIns="158475" spcFirstLastPara="1" rIns="158475" wrap="square" tIns="158475">
              <a:noAutofit/>
            </a:bodyPr>
            <a:lstStyle/>
            <a:p>
              <a:pPr indent="0" lvl="0" marL="0" marR="0" rtl="0" algn="l">
                <a:lnSpc>
                  <a:spcPct val="100000"/>
                </a:lnSpc>
                <a:spcBef>
                  <a:spcPts val="0"/>
                </a:spcBef>
                <a:spcAft>
                  <a:spcPts val="0"/>
                </a:spcAft>
                <a:buClr>
                  <a:schemeClr val="dk1"/>
                </a:buClr>
                <a:buSzPts val="1100"/>
                <a:buFont typeface="Calibri"/>
                <a:buNone/>
              </a:pPr>
              <a:r>
                <a:rPr lang="en-US" sz="1100">
                  <a:solidFill>
                    <a:schemeClr val="dk1"/>
                  </a:solidFill>
                  <a:latin typeface="Calibri"/>
                  <a:ea typeface="Calibri"/>
                  <a:cs typeface="Calibri"/>
                  <a:sym typeface="Calibri"/>
                </a:rPr>
                <a:t>Reasoning from empirical measurements &amp; data</a:t>
              </a:r>
              <a:endParaRPr sz="1100">
                <a:solidFill>
                  <a:schemeClr val="dk1"/>
                </a:solidFill>
                <a:latin typeface="Calibri"/>
                <a:ea typeface="Calibri"/>
                <a:cs typeface="Calibri"/>
                <a:sym typeface="Calibri"/>
              </a:endParaRPr>
            </a:p>
            <a:p>
              <a:pPr indent="0" lvl="0" marL="0" marR="0" rtl="0" algn="l">
                <a:lnSpc>
                  <a:spcPct val="100000"/>
                </a:lnSpc>
                <a:spcBef>
                  <a:spcPts val="385"/>
                </a:spcBef>
                <a:spcAft>
                  <a:spcPts val="0"/>
                </a:spcAft>
                <a:buClr>
                  <a:schemeClr val="dk1"/>
                </a:buClr>
                <a:buSzPts val="1100"/>
                <a:buFont typeface="Calibri"/>
                <a:buNone/>
              </a:pPr>
              <a:r>
                <a:rPr lang="en-US" sz="1100">
                  <a:solidFill>
                    <a:schemeClr val="dk1"/>
                  </a:solidFill>
                  <a:latin typeface="Calibri"/>
                  <a:ea typeface="Calibri"/>
                  <a:cs typeface="Calibri"/>
                  <a:sym typeface="Calibri"/>
                </a:rPr>
                <a:t>Active sensing, active learning</a:t>
              </a:r>
              <a:endParaRPr sz="1100">
                <a:solidFill>
                  <a:schemeClr val="dk1"/>
                </a:solidFill>
                <a:latin typeface="Calibri"/>
                <a:ea typeface="Calibri"/>
                <a:cs typeface="Calibri"/>
                <a:sym typeface="Calibri"/>
              </a:endParaRPr>
            </a:p>
            <a:p>
              <a:pPr indent="0" lvl="0" marL="0" marR="0" rtl="0" algn="l">
                <a:lnSpc>
                  <a:spcPct val="100000"/>
                </a:lnSpc>
                <a:spcBef>
                  <a:spcPts val="385"/>
                </a:spcBef>
                <a:spcAft>
                  <a:spcPts val="0"/>
                </a:spcAft>
                <a:buClr>
                  <a:schemeClr val="dk1"/>
                </a:buClr>
                <a:buSzPts val="1100"/>
                <a:buFont typeface="Calibri"/>
                <a:buNone/>
              </a:pPr>
              <a:r>
                <a:rPr lang="en-US" sz="1100">
                  <a:solidFill>
                    <a:schemeClr val="dk1"/>
                  </a:solidFill>
                  <a:latin typeface="Calibri"/>
                  <a:ea typeface="Calibri"/>
                  <a:cs typeface="Calibri"/>
                  <a:sym typeface="Calibri"/>
                </a:rPr>
                <a:t>Informed search</a:t>
              </a:r>
              <a:endParaRPr sz="1100">
                <a:solidFill>
                  <a:schemeClr val="dk1"/>
                </a:solidFill>
                <a:latin typeface="Calibri"/>
                <a:ea typeface="Calibri"/>
                <a:cs typeface="Calibri"/>
                <a:sym typeface="Calibri"/>
              </a:endParaRPr>
            </a:p>
          </p:txBody>
        </p:sp>
      </p:grpSp>
      <p:sp>
        <p:nvSpPr>
          <p:cNvPr id="118" name="Google Shape;118;p2"/>
          <p:cNvSpPr txBox="1"/>
          <p:nvPr/>
        </p:nvSpPr>
        <p:spPr>
          <a:xfrm>
            <a:off x="206114" y="213090"/>
            <a:ext cx="610849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800">
                <a:solidFill>
                  <a:srgbClr val="FFFFFF"/>
                </a:solidFill>
                <a:latin typeface="Calibri"/>
                <a:ea typeface="Calibri"/>
                <a:cs typeface="Calibri"/>
                <a:sym typeface="Calibri"/>
              </a:rPr>
              <a:t>Next generation AI </a:t>
            </a:r>
            <a:endParaRPr sz="4800">
              <a:solidFill>
                <a:schemeClr val="dk1"/>
              </a:solidFill>
              <a:latin typeface="Calibri"/>
              <a:ea typeface="Calibri"/>
              <a:cs typeface="Calibri"/>
              <a:sym typeface="Calibri"/>
            </a:endParaRPr>
          </a:p>
        </p:txBody>
      </p:sp>
      <p:pic>
        <p:nvPicPr>
          <p:cNvPr id="119" name="Google Shape;119;p2"/>
          <p:cNvPicPr preferRelativeResize="0"/>
          <p:nvPr/>
        </p:nvPicPr>
        <p:blipFill rotWithShape="1">
          <a:blip r:embed="rId5">
            <a:alphaModFix/>
          </a:blip>
          <a:srcRect b="0" l="0" r="0" t="0"/>
          <a:stretch/>
        </p:blipFill>
        <p:spPr>
          <a:xfrm>
            <a:off x="11649052" y="750649"/>
            <a:ext cx="164506" cy="228295"/>
          </a:xfrm>
          <a:prstGeom prst="rect">
            <a:avLst/>
          </a:prstGeom>
          <a:noFill/>
          <a:ln>
            <a:noFill/>
          </a:ln>
        </p:spPr>
      </p:pic>
      <p:pic>
        <p:nvPicPr>
          <p:cNvPr descr="A logo on a brown background&#10;&#10;Description automatically generated" id="120" name="Google Shape;120;p2"/>
          <p:cNvPicPr preferRelativeResize="0"/>
          <p:nvPr/>
        </p:nvPicPr>
        <p:blipFill rotWithShape="1">
          <a:blip r:embed="rId6">
            <a:alphaModFix/>
          </a:blip>
          <a:srcRect b="0" l="0" r="0" t="0"/>
          <a:stretch/>
        </p:blipFill>
        <p:spPr>
          <a:xfrm>
            <a:off x="9366293" y="122514"/>
            <a:ext cx="983414" cy="1089077"/>
          </a:xfrm>
          <a:prstGeom prst="rect">
            <a:avLst/>
          </a:prstGeom>
          <a:noFill/>
          <a:ln>
            <a:noFill/>
          </a:ln>
        </p:spPr>
      </p:pic>
      <p:pic>
        <p:nvPicPr>
          <p:cNvPr id="121" name="Google Shape;121;p2"/>
          <p:cNvPicPr preferRelativeResize="0"/>
          <p:nvPr/>
        </p:nvPicPr>
        <p:blipFill rotWithShape="1">
          <a:blip r:embed="rId7">
            <a:alphaModFix/>
          </a:blip>
          <a:srcRect b="0" l="0" r="0" t="0"/>
          <a:stretch/>
        </p:blipFill>
        <p:spPr>
          <a:xfrm>
            <a:off x="3274442" y="6217148"/>
            <a:ext cx="1290842" cy="463820"/>
          </a:xfrm>
          <a:prstGeom prst="rect">
            <a:avLst/>
          </a:prstGeom>
          <a:noFill/>
          <a:ln>
            <a:noFill/>
          </a:ln>
        </p:spPr>
      </p:pic>
      <p:pic>
        <p:nvPicPr>
          <p:cNvPr id="122" name="Google Shape;122;p2"/>
          <p:cNvPicPr preferRelativeResize="0"/>
          <p:nvPr/>
        </p:nvPicPr>
        <p:blipFill rotWithShape="1">
          <a:blip r:embed="rId8">
            <a:alphaModFix/>
          </a:blip>
          <a:srcRect b="0" l="0" r="0" t="0"/>
          <a:stretch/>
        </p:blipFill>
        <p:spPr>
          <a:xfrm>
            <a:off x="952509" y="6139889"/>
            <a:ext cx="1871382" cy="571501"/>
          </a:xfrm>
          <a:prstGeom prst="rect">
            <a:avLst/>
          </a:prstGeom>
          <a:noFill/>
          <a:ln>
            <a:noFill/>
          </a:ln>
        </p:spPr>
      </p:pic>
      <p:pic>
        <p:nvPicPr>
          <p:cNvPr descr="A logo with a letter c&#10;&#10;AI-generated content may be incorrect." id="123" name="Google Shape;123;p2"/>
          <p:cNvPicPr preferRelativeResize="0"/>
          <p:nvPr/>
        </p:nvPicPr>
        <p:blipFill rotWithShape="1">
          <a:blip r:embed="rId9">
            <a:alphaModFix/>
          </a:blip>
          <a:srcRect b="0" l="0" r="0" t="0"/>
          <a:stretch/>
        </p:blipFill>
        <p:spPr>
          <a:xfrm>
            <a:off x="4973014" y="6149349"/>
            <a:ext cx="568872" cy="571502"/>
          </a:xfrm>
          <a:prstGeom prst="rect">
            <a:avLst/>
          </a:prstGeom>
          <a:noFill/>
          <a:ln>
            <a:noFill/>
          </a:ln>
        </p:spPr>
      </p:pic>
      <p:pic>
        <p:nvPicPr>
          <p:cNvPr descr="A picture containing text, poster, font, symbol&#10;&#10;Description automatically generated" id="124" name="Google Shape;124;p2"/>
          <p:cNvPicPr preferRelativeResize="0"/>
          <p:nvPr/>
        </p:nvPicPr>
        <p:blipFill rotWithShape="1">
          <a:blip r:embed="rId10">
            <a:alphaModFix/>
          </a:blip>
          <a:srcRect b="0" l="0" r="0" t="0"/>
          <a:stretch/>
        </p:blipFill>
        <p:spPr>
          <a:xfrm>
            <a:off x="5928320" y="6031012"/>
            <a:ext cx="420495" cy="689839"/>
          </a:xfrm>
          <a:prstGeom prst="rect">
            <a:avLst/>
          </a:prstGeom>
          <a:noFill/>
          <a:ln>
            <a:noFill/>
          </a:ln>
        </p:spPr>
      </p:pic>
      <p:pic>
        <p:nvPicPr>
          <p:cNvPr descr="A black background with blue text&#10;&#10;AI-generated content may be incorrect." id="125" name="Google Shape;125;p2"/>
          <p:cNvPicPr preferRelativeResize="0"/>
          <p:nvPr/>
        </p:nvPicPr>
        <p:blipFill rotWithShape="1">
          <a:blip r:embed="rId11">
            <a:alphaModFix/>
          </a:blip>
          <a:srcRect b="0" l="0" r="0" t="0"/>
          <a:stretch/>
        </p:blipFill>
        <p:spPr>
          <a:xfrm>
            <a:off x="7897703" y="6217147"/>
            <a:ext cx="1106751" cy="423697"/>
          </a:xfrm>
          <a:prstGeom prst="rect">
            <a:avLst/>
          </a:prstGeom>
          <a:noFill/>
          <a:ln>
            <a:noFill/>
          </a:ln>
        </p:spPr>
      </p:pic>
      <p:pic>
        <p:nvPicPr>
          <p:cNvPr descr="University of Iceland" id="126" name="Google Shape;126;p2"/>
          <p:cNvPicPr preferRelativeResize="0"/>
          <p:nvPr/>
        </p:nvPicPr>
        <p:blipFill rotWithShape="1">
          <a:blip r:embed="rId12">
            <a:alphaModFix/>
          </a:blip>
          <a:srcRect b="0" l="0" r="0" t="0"/>
          <a:stretch/>
        </p:blipFill>
        <p:spPr>
          <a:xfrm>
            <a:off x="9234002" y="6205457"/>
            <a:ext cx="1229323" cy="487197"/>
          </a:xfrm>
          <a:prstGeom prst="rect">
            <a:avLst/>
          </a:prstGeom>
          <a:noFill/>
          <a:ln>
            <a:noFill/>
          </a:ln>
        </p:spPr>
      </p:pic>
      <p:pic>
        <p:nvPicPr>
          <p:cNvPr descr="A blue flag with yellow stars&#10;&#10;AI-generated content may be incorrect." id="127" name="Google Shape;127;p2"/>
          <p:cNvPicPr preferRelativeResize="0"/>
          <p:nvPr/>
        </p:nvPicPr>
        <p:blipFill rotWithShape="1">
          <a:blip r:embed="rId13">
            <a:alphaModFix/>
          </a:blip>
          <a:srcRect b="0" l="0" r="0" t="0"/>
          <a:stretch/>
        </p:blipFill>
        <p:spPr>
          <a:xfrm>
            <a:off x="6819169" y="6093406"/>
            <a:ext cx="726547" cy="736321"/>
          </a:xfrm>
          <a:prstGeom prst="rect">
            <a:avLst/>
          </a:prstGeom>
          <a:noFill/>
          <a:ln>
            <a:noFill/>
          </a:ln>
        </p:spPr>
      </p:pic>
      <p:pic>
        <p:nvPicPr>
          <p:cNvPr descr="A logo with blue letters&#10;&#10;AI-generated content may be incorrect." id="128" name="Google Shape;128;p2"/>
          <p:cNvPicPr preferRelativeResize="0"/>
          <p:nvPr/>
        </p:nvPicPr>
        <p:blipFill rotWithShape="1">
          <a:blip r:embed="rId14">
            <a:alphaModFix/>
          </a:blip>
          <a:srcRect b="0" l="0" r="0" t="0"/>
          <a:stretch/>
        </p:blipFill>
        <p:spPr>
          <a:xfrm>
            <a:off x="10692740" y="6217147"/>
            <a:ext cx="1164879" cy="4638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p3"/>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diagram of a export&#10;&#10;AI-generated content may be incorrect." id="134" name="Google Shape;134;p3"/>
          <p:cNvPicPr preferRelativeResize="0"/>
          <p:nvPr/>
        </p:nvPicPr>
        <p:blipFill rotWithShape="1">
          <a:blip r:embed="rId3">
            <a:alphaModFix/>
          </a:blip>
          <a:srcRect b="443" l="0" r="0" t="0"/>
          <a:stretch/>
        </p:blipFill>
        <p:spPr>
          <a:xfrm>
            <a:off x="1" y="10"/>
            <a:ext cx="12191999" cy="6857990"/>
          </a:xfrm>
          <a:prstGeom prst="rect">
            <a:avLst/>
          </a:prstGeom>
          <a:noFill/>
          <a:ln>
            <a:noFill/>
          </a:ln>
        </p:spPr>
      </p:pic>
      <p:sp>
        <p:nvSpPr>
          <p:cNvPr id="135" name="Google Shape;135;p3"/>
          <p:cNvSpPr/>
          <p:nvPr/>
        </p:nvSpPr>
        <p:spPr>
          <a:xfrm>
            <a:off x="0" y="2207602"/>
            <a:ext cx="12191999" cy="3162146"/>
          </a:xfrm>
          <a:prstGeom prst="rect">
            <a:avLst/>
          </a:prstGeom>
          <a:gradFill>
            <a:gsLst>
              <a:gs pos="0">
                <a:srgbClr val="000000">
                  <a:alpha val="0"/>
                </a:srgbClr>
              </a:gs>
              <a:gs pos="25000">
                <a:srgbClr val="000000">
                  <a:alpha val="14901"/>
                </a:srgbClr>
              </a:gs>
              <a:gs pos="50000">
                <a:srgbClr val="000000">
                  <a:alpha val="29803"/>
                </a:srgbClr>
              </a:gs>
              <a:gs pos="75000">
                <a:srgbClr val="000000">
                  <a:alpha val="14901"/>
                </a:srgbClr>
              </a:gs>
              <a:gs pos="100000">
                <a:srgbClr val="000000">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3"/>
          <p:cNvSpPr txBox="1"/>
          <p:nvPr>
            <p:ph type="title"/>
          </p:nvPr>
        </p:nvSpPr>
        <p:spPr>
          <a:xfrm>
            <a:off x="2058573" y="1128578"/>
            <a:ext cx="8867335" cy="2300422"/>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5200"/>
              <a:buFont typeface="Calibri"/>
              <a:buNone/>
            </a:pPr>
            <a:r>
              <a:rPr lang="en-US" sz="5200">
                <a:solidFill>
                  <a:srgbClr val="FFFFFF"/>
                </a:solidFill>
              </a:rPr>
              <a:t>The UseCase</a:t>
            </a:r>
            <a:endParaRPr sz="5200">
              <a:solidFill>
                <a:srgbClr val="FFFFFF"/>
              </a:solidFill>
            </a:endParaRPr>
          </a:p>
        </p:txBody>
      </p:sp>
      <p:pic>
        <p:nvPicPr>
          <p:cNvPr descr="A logo with blue letters&#10;&#10;AI-generated content may be incorrect." id="137" name="Google Shape;137;p3"/>
          <p:cNvPicPr preferRelativeResize="0"/>
          <p:nvPr/>
        </p:nvPicPr>
        <p:blipFill rotWithShape="1">
          <a:blip r:embed="rId4">
            <a:alphaModFix/>
          </a:blip>
          <a:srcRect b="0" l="0" r="0" t="0"/>
          <a:stretch/>
        </p:blipFill>
        <p:spPr>
          <a:xfrm>
            <a:off x="10278953" y="56543"/>
            <a:ext cx="1753455" cy="6981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36"/>
                                        </p:tgtEl>
                                        <p:attrNameLst>
                                          <p:attrName>style.visibility</p:attrName>
                                        </p:attrNameLst>
                                      </p:cBhvr>
                                      <p:to>
                                        <p:strVal val="visible"/>
                                      </p:to>
                                    </p:set>
                                    <p:animEffect filter="fade" transition="in">
                                      <p:cBhvr>
                                        <p:cTn dur="7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4"/>
          <p:cNvSpPr txBox="1"/>
          <p:nvPr>
            <p:ph type="title"/>
          </p:nvPr>
        </p:nvSpPr>
        <p:spPr>
          <a:xfrm>
            <a:off x="484932" y="115282"/>
            <a:ext cx="6579898" cy="100852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r>
              <a:rPr lang="en-US" sz="4000"/>
              <a:t>Use Case cont.</a:t>
            </a:r>
            <a:endParaRPr/>
          </a:p>
        </p:txBody>
      </p:sp>
      <p:sp>
        <p:nvSpPr>
          <p:cNvPr id="143" name="Google Shape;143;p4"/>
          <p:cNvSpPr txBox="1"/>
          <p:nvPr>
            <p:ph idx="1" type="body"/>
          </p:nvPr>
        </p:nvSpPr>
        <p:spPr>
          <a:xfrm>
            <a:off x="484932" y="1370442"/>
            <a:ext cx="11226205" cy="460007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rPr b="1" lang="en-US" sz="3600"/>
              <a:t>Based on open high value data sets.</a:t>
            </a:r>
            <a:endParaRPr/>
          </a:p>
          <a:p>
            <a:pPr indent="0" lvl="0" marL="0" rtl="0" algn="l">
              <a:lnSpc>
                <a:spcPct val="90000"/>
              </a:lnSpc>
              <a:spcBef>
                <a:spcPts val="1000"/>
              </a:spcBef>
              <a:spcAft>
                <a:spcPts val="0"/>
              </a:spcAft>
              <a:buClr>
                <a:schemeClr val="dk1"/>
              </a:buClr>
              <a:buSzPts val="3600"/>
              <a:buNone/>
            </a:pPr>
            <a:r>
              <a:t/>
            </a:r>
            <a:endParaRPr b="1" sz="3600"/>
          </a:p>
          <a:p>
            <a:pPr indent="-228600" lvl="1" marL="685800" rtl="0" algn="l">
              <a:lnSpc>
                <a:spcPct val="90000"/>
              </a:lnSpc>
              <a:spcBef>
                <a:spcPts val="500"/>
              </a:spcBef>
              <a:spcAft>
                <a:spcPts val="0"/>
              </a:spcAft>
              <a:buClr>
                <a:schemeClr val="dk1"/>
              </a:buClr>
              <a:buSzPts val="2800"/>
              <a:buFont typeface="Noto Sans Symbols"/>
              <a:buChar char="⮚"/>
            </a:pPr>
            <a:r>
              <a:rPr lang="en-US" sz="2800"/>
              <a:t>To use AI and high value datasets to predict future export of goods and sales from services to 1-250 countries using </a:t>
            </a:r>
            <a:r>
              <a:rPr b="1" lang="en-US" sz="2800"/>
              <a:t>RNN</a:t>
            </a:r>
            <a:r>
              <a:rPr lang="en-US" sz="2800"/>
              <a:t> models.</a:t>
            </a:r>
            <a:br>
              <a:rPr lang="en-US" sz="2800"/>
            </a:br>
            <a:endParaRPr sz="2800"/>
          </a:p>
          <a:p>
            <a:pPr indent="-228600" lvl="1" marL="685800" rtl="0" algn="l">
              <a:lnSpc>
                <a:spcPct val="90000"/>
              </a:lnSpc>
              <a:spcBef>
                <a:spcPts val="500"/>
              </a:spcBef>
              <a:spcAft>
                <a:spcPts val="0"/>
              </a:spcAft>
              <a:buClr>
                <a:schemeClr val="dk1"/>
              </a:buClr>
              <a:buSzPts val="2800"/>
              <a:buFont typeface="Noto Sans Symbols"/>
              <a:buChar char="⮚"/>
            </a:pPr>
            <a:r>
              <a:rPr lang="en-US" sz="2800"/>
              <a:t>To estimated accuracy of the </a:t>
            </a:r>
            <a:r>
              <a:rPr b="1" lang="en-US" sz="2800"/>
              <a:t>LSTM</a:t>
            </a:r>
            <a:r>
              <a:rPr lang="en-US" sz="2800"/>
              <a:t> model to predict </a:t>
            </a:r>
            <a:endParaRPr/>
          </a:p>
          <a:p>
            <a:pPr indent="-228600" lvl="2" marL="1143000" rtl="0" algn="l">
              <a:lnSpc>
                <a:spcPct val="90000"/>
              </a:lnSpc>
              <a:spcBef>
                <a:spcPts val="500"/>
              </a:spcBef>
              <a:spcAft>
                <a:spcPts val="0"/>
              </a:spcAft>
              <a:buClr>
                <a:schemeClr val="dk1"/>
              </a:buClr>
              <a:buSzPts val="2400"/>
              <a:buFont typeface="Noto Sans Symbols"/>
              <a:buChar char="⮚"/>
            </a:pPr>
            <a:r>
              <a:rPr lang="en-US" sz="2400"/>
              <a:t>sale export of services (</a:t>
            </a:r>
            <a:r>
              <a:rPr b="1" lang="en-US" sz="2400"/>
              <a:t>Million ISK) </a:t>
            </a:r>
            <a:r>
              <a:rPr lang="en-US" sz="2400"/>
              <a:t>and export of goods (</a:t>
            </a:r>
            <a:r>
              <a:rPr b="1" lang="en-US" sz="2400"/>
              <a:t>Tonnes</a:t>
            </a:r>
            <a:r>
              <a:rPr lang="en-US" sz="2400"/>
              <a:t>)</a:t>
            </a:r>
            <a:endParaRPr b="1" sz="2400"/>
          </a:p>
          <a:p>
            <a:pPr indent="-228600" lvl="2" marL="1143000" rtl="0" algn="l">
              <a:lnSpc>
                <a:spcPct val="90000"/>
              </a:lnSpc>
              <a:spcBef>
                <a:spcPts val="500"/>
              </a:spcBef>
              <a:spcAft>
                <a:spcPts val="0"/>
              </a:spcAft>
              <a:buClr>
                <a:srgbClr val="3F3F3F"/>
              </a:buClr>
              <a:buSzPts val="2400"/>
              <a:buFont typeface="Noto Sans Symbols"/>
              <a:buChar char="⮚"/>
            </a:pPr>
            <a:r>
              <a:rPr lang="en-US" sz="2400">
                <a:solidFill>
                  <a:srgbClr val="3F3F3F"/>
                </a:solidFill>
              </a:rPr>
              <a:t>future (24 month) </a:t>
            </a:r>
            <a:r>
              <a:rPr lang="en-US" sz="2400"/>
              <a:t>sale export of services</a:t>
            </a:r>
            <a:r>
              <a:rPr b="1" lang="en-US" sz="2400">
                <a:solidFill>
                  <a:srgbClr val="3F3F3F"/>
                </a:solidFill>
              </a:rPr>
              <a:t> (</a:t>
            </a:r>
            <a:r>
              <a:rPr b="1" lang="en-US" sz="2400"/>
              <a:t>Million ISK)</a:t>
            </a:r>
            <a:r>
              <a:rPr b="1" lang="en-US" sz="2400">
                <a:solidFill>
                  <a:srgbClr val="3F3F3F"/>
                </a:solidFill>
              </a:rPr>
              <a:t> </a:t>
            </a:r>
            <a:r>
              <a:rPr lang="en-US" sz="2400">
                <a:solidFill>
                  <a:srgbClr val="3F3F3F"/>
                </a:solidFill>
              </a:rPr>
              <a:t>and goods (</a:t>
            </a:r>
            <a:r>
              <a:rPr b="1" lang="en-US" sz="2400">
                <a:solidFill>
                  <a:srgbClr val="3F3F3F"/>
                </a:solidFill>
              </a:rPr>
              <a:t>Tonnes</a:t>
            </a:r>
            <a:r>
              <a:rPr lang="en-US" sz="2400">
                <a:solidFill>
                  <a:srgbClr val="3F3F3F"/>
                </a:solidFill>
              </a:rPr>
              <a:t>)</a:t>
            </a:r>
            <a:endParaRPr sz="2800">
              <a:solidFill>
                <a:srgbClr val="3F3F3F"/>
              </a:solidFill>
            </a:endParaRPr>
          </a:p>
          <a:p>
            <a:pPr indent="0" lvl="1" marL="457200" rtl="0" algn="l">
              <a:lnSpc>
                <a:spcPct val="90000"/>
              </a:lnSpc>
              <a:spcBef>
                <a:spcPts val="500"/>
              </a:spcBef>
              <a:spcAft>
                <a:spcPts val="0"/>
              </a:spcAft>
              <a:buClr>
                <a:schemeClr val="dk1"/>
              </a:buClr>
              <a:buSzPts val="3200"/>
              <a:buNone/>
            </a:pPr>
            <a:r>
              <a:t/>
            </a:r>
            <a:endParaRPr b="1" sz="3200"/>
          </a:p>
        </p:txBody>
      </p:sp>
      <p:pic>
        <p:nvPicPr>
          <p:cNvPr id="144" name="Google Shape;144;p4"/>
          <p:cNvPicPr preferRelativeResize="0"/>
          <p:nvPr/>
        </p:nvPicPr>
        <p:blipFill rotWithShape="1">
          <a:blip r:embed="rId3">
            <a:alphaModFix/>
          </a:blip>
          <a:srcRect b="0" l="0" r="0" t="0"/>
          <a:stretch/>
        </p:blipFill>
        <p:spPr>
          <a:xfrm>
            <a:off x="3274442" y="6217148"/>
            <a:ext cx="1290842" cy="463820"/>
          </a:xfrm>
          <a:prstGeom prst="rect">
            <a:avLst/>
          </a:prstGeom>
          <a:noFill/>
          <a:ln>
            <a:noFill/>
          </a:ln>
        </p:spPr>
      </p:pic>
      <p:pic>
        <p:nvPicPr>
          <p:cNvPr id="145" name="Google Shape;145;p4"/>
          <p:cNvPicPr preferRelativeResize="0"/>
          <p:nvPr/>
        </p:nvPicPr>
        <p:blipFill rotWithShape="1">
          <a:blip r:embed="rId4">
            <a:alphaModFix/>
          </a:blip>
          <a:srcRect b="0" l="0" r="0" t="0"/>
          <a:stretch/>
        </p:blipFill>
        <p:spPr>
          <a:xfrm>
            <a:off x="952509" y="6139889"/>
            <a:ext cx="1871382" cy="571501"/>
          </a:xfrm>
          <a:prstGeom prst="rect">
            <a:avLst/>
          </a:prstGeom>
          <a:noFill/>
          <a:ln>
            <a:noFill/>
          </a:ln>
        </p:spPr>
      </p:pic>
      <p:pic>
        <p:nvPicPr>
          <p:cNvPr descr="A logo with a letter c&#10;&#10;AI-generated content may be incorrect." id="146" name="Google Shape;146;p4"/>
          <p:cNvPicPr preferRelativeResize="0"/>
          <p:nvPr/>
        </p:nvPicPr>
        <p:blipFill rotWithShape="1">
          <a:blip r:embed="rId5">
            <a:alphaModFix/>
          </a:blip>
          <a:srcRect b="0" l="0" r="0" t="0"/>
          <a:stretch/>
        </p:blipFill>
        <p:spPr>
          <a:xfrm>
            <a:off x="4973014" y="6149349"/>
            <a:ext cx="568872" cy="571502"/>
          </a:xfrm>
          <a:prstGeom prst="rect">
            <a:avLst/>
          </a:prstGeom>
          <a:noFill/>
          <a:ln>
            <a:noFill/>
          </a:ln>
        </p:spPr>
      </p:pic>
      <p:pic>
        <p:nvPicPr>
          <p:cNvPr descr="A picture containing text, poster, font, symbol&#10;&#10;Description automatically generated" id="147" name="Google Shape;147;p4"/>
          <p:cNvPicPr preferRelativeResize="0"/>
          <p:nvPr/>
        </p:nvPicPr>
        <p:blipFill rotWithShape="1">
          <a:blip r:embed="rId6">
            <a:alphaModFix/>
          </a:blip>
          <a:srcRect b="0" l="0" r="0" t="0"/>
          <a:stretch/>
        </p:blipFill>
        <p:spPr>
          <a:xfrm>
            <a:off x="5928320" y="6031012"/>
            <a:ext cx="420495" cy="689839"/>
          </a:xfrm>
          <a:prstGeom prst="rect">
            <a:avLst/>
          </a:prstGeom>
          <a:noFill/>
          <a:ln>
            <a:noFill/>
          </a:ln>
        </p:spPr>
      </p:pic>
      <p:pic>
        <p:nvPicPr>
          <p:cNvPr descr="A black background with blue text&#10;&#10;AI-generated content may be incorrect." id="148" name="Google Shape;148;p4"/>
          <p:cNvPicPr preferRelativeResize="0"/>
          <p:nvPr/>
        </p:nvPicPr>
        <p:blipFill rotWithShape="1">
          <a:blip r:embed="rId7">
            <a:alphaModFix/>
          </a:blip>
          <a:srcRect b="0" l="0" r="0" t="0"/>
          <a:stretch/>
        </p:blipFill>
        <p:spPr>
          <a:xfrm>
            <a:off x="7897703" y="6217147"/>
            <a:ext cx="1106751" cy="423697"/>
          </a:xfrm>
          <a:prstGeom prst="rect">
            <a:avLst/>
          </a:prstGeom>
          <a:noFill/>
          <a:ln>
            <a:noFill/>
          </a:ln>
        </p:spPr>
      </p:pic>
      <p:pic>
        <p:nvPicPr>
          <p:cNvPr descr="University of Iceland" id="149" name="Google Shape;149;p4"/>
          <p:cNvPicPr preferRelativeResize="0"/>
          <p:nvPr/>
        </p:nvPicPr>
        <p:blipFill rotWithShape="1">
          <a:blip r:embed="rId8">
            <a:alphaModFix/>
          </a:blip>
          <a:srcRect b="0" l="0" r="0" t="0"/>
          <a:stretch/>
        </p:blipFill>
        <p:spPr>
          <a:xfrm>
            <a:off x="9234002" y="6205457"/>
            <a:ext cx="1229323" cy="487197"/>
          </a:xfrm>
          <a:prstGeom prst="rect">
            <a:avLst/>
          </a:prstGeom>
          <a:noFill/>
          <a:ln>
            <a:noFill/>
          </a:ln>
        </p:spPr>
      </p:pic>
      <p:pic>
        <p:nvPicPr>
          <p:cNvPr descr="A blue flag with yellow stars&#10;&#10;AI-generated content may be incorrect." id="150" name="Google Shape;150;p4"/>
          <p:cNvPicPr preferRelativeResize="0"/>
          <p:nvPr/>
        </p:nvPicPr>
        <p:blipFill rotWithShape="1">
          <a:blip r:embed="rId9">
            <a:alphaModFix/>
          </a:blip>
          <a:srcRect b="0" l="0" r="0" t="0"/>
          <a:stretch/>
        </p:blipFill>
        <p:spPr>
          <a:xfrm>
            <a:off x="6819169" y="6093406"/>
            <a:ext cx="726547" cy="736321"/>
          </a:xfrm>
          <a:prstGeom prst="rect">
            <a:avLst/>
          </a:prstGeom>
          <a:noFill/>
          <a:ln>
            <a:noFill/>
          </a:ln>
        </p:spPr>
      </p:pic>
      <p:pic>
        <p:nvPicPr>
          <p:cNvPr descr="A logo with blue letters&#10;&#10;AI-generated content may be incorrect." id="151" name="Google Shape;151;p4"/>
          <p:cNvPicPr preferRelativeResize="0"/>
          <p:nvPr/>
        </p:nvPicPr>
        <p:blipFill rotWithShape="1">
          <a:blip r:embed="rId10">
            <a:alphaModFix/>
          </a:blip>
          <a:srcRect b="0" l="0" r="0" t="0"/>
          <a:stretch/>
        </p:blipFill>
        <p:spPr>
          <a:xfrm>
            <a:off x="10692740" y="6217147"/>
            <a:ext cx="1164879" cy="46381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5"/>
          <p:cNvSpPr txBox="1"/>
          <p:nvPr>
            <p:ph type="title"/>
          </p:nvPr>
        </p:nvSpPr>
        <p:spPr>
          <a:xfrm>
            <a:off x="829758" y="142928"/>
            <a:ext cx="6354572" cy="111722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r>
              <a:rPr b="1" lang="en-US" sz="4000"/>
              <a:t>TensorFlow-LSTM Model</a:t>
            </a:r>
            <a:br>
              <a:rPr b="1" lang="en-US" sz="4000"/>
            </a:br>
            <a:r>
              <a:rPr b="1" lang="en-US" sz="3600"/>
              <a:t>Dataset</a:t>
            </a:r>
            <a:endParaRPr/>
          </a:p>
        </p:txBody>
      </p:sp>
      <p:sp>
        <p:nvSpPr>
          <p:cNvPr id="157" name="Google Shape;157;p5"/>
          <p:cNvSpPr txBox="1"/>
          <p:nvPr>
            <p:ph idx="1" type="body"/>
          </p:nvPr>
        </p:nvSpPr>
        <p:spPr>
          <a:xfrm>
            <a:off x="819505" y="1551289"/>
            <a:ext cx="11038114" cy="435133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0"/>
              </a:spcBef>
              <a:spcAft>
                <a:spcPts val="0"/>
              </a:spcAft>
              <a:buClr>
                <a:schemeClr val="dk1"/>
              </a:buClr>
              <a:buSzPct val="100000"/>
              <a:buNone/>
            </a:pPr>
            <a:r>
              <a:rPr b="1" lang="en-US" sz="4600"/>
              <a:t>Current data set (time interval: 2018-2025):</a:t>
            </a:r>
            <a:endParaRPr/>
          </a:p>
          <a:p>
            <a:pPr indent="-41592" lvl="1" marL="685800" rtl="0" algn="l">
              <a:lnSpc>
                <a:spcPct val="90000"/>
              </a:lnSpc>
              <a:spcBef>
                <a:spcPts val="500"/>
              </a:spcBef>
              <a:spcAft>
                <a:spcPts val="0"/>
              </a:spcAft>
              <a:buClr>
                <a:schemeClr val="dk1"/>
              </a:buClr>
              <a:buSzPct val="100000"/>
              <a:buFont typeface="Noto Sans Symbols"/>
              <a:buNone/>
            </a:pPr>
            <a:r>
              <a:t/>
            </a:r>
            <a:endParaRPr sz="3800"/>
          </a:p>
          <a:p>
            <a:pPr indent="-228600" lvl="1" marL="685800" rtl="0" algn="l">
              <a:lnSpc>
                <a:spcPct val="90000"/>
              </a:lnSpc>
              <a:spcBef>
                <a:spcPts val="500"/>
              </a:spcBef>
              <a:spcAft>
                <a:spcPts val="0"/>
              </a:spcAft>
              <a:buClr>
                <a:schemeClr val="dk1"/>
              </a:buClr>
              <a:buSzPct val="100000"/>
              <a:buFont typeface="Noto Sans Symbols"/>
              <a:buChar char="⮚"/>
            </a:pPr>
            <a:r>
              <a:rPr lang="en-US" sz="3800"/>
              <a:t>All Service exports of processing to 250 countries. </a:t>
            </a:r>
            <a:br>
              <a:rPr i="1" lang="en-US" sz="3800">
                <a:solidFill>
                  <a:srgbClr val="FF0000"/>
                </a:solidFill>
              </a:rPr>
            </a:br>
            <a:endParaRPr i="1" sz="3800">
              <a:solidFill>
                <a:srgbClr val="FF0000"/>
              </a:solidFill>
            </a:endParaRPr>
          </a:p>
          <a:p>
            <a:pPr indent="-228600" lvl="1" marL="685800" rtl="0" algn="l">
              <a:lnSpc>
                <a:spcPct val="90000"/>
              </a:lnSpc>
              <a:spcBef>
                <a:spcPts val="500"/>
              </a:spcBef>
              <a:spcAft>
                <a:spcPts val="0"/>
              </a:spcAft>
              <a:buClr>
                <a:schemeClr val="dk1"/>
              </a:buClr>
              <a:buSzPct val="100000"/>
              <a:buFont typeface="Noto Sans Symbols"/>
              <a:buChar char="⮚"/>
            </a:pPr>
            <a:r>
              <a:rPr lang="en-US" sz="3800"/>
              <a:t>All export of goods to US. </a:t>
            </a:r>
            <a:endParaRPr/>
          </a:p>
          <a:p>
            <a:pPr indent="0" lvl="1" marL="457200" rtl="0" algn="l">
              <a:lnSpc>
                <a:spcPct val="90000"/>
              </a:lnSpc>
              <a:spcBef>
                <a:spcPts val="500"/>
              </a:spcBef>
              <a:spcAft>
                <a:spcPts val="0"/>
              </a:spcAft>
              <a:buClr>
                <a:schemeClr val="dk1"/>
              </a:buClr>
              <a:buSzPct val="100000"/>
              <a:buNone/>
            </a:pPr>
            <a:r>
              <a:rPr lang="en-US" sz="3800"/>
              <a:t> </a:t>
            </a:r>
            <a:endParaRPr/>
          </a:p>
          <a:p>
            <a:pPr indent="-228600" lvl="1" marL="685800" rtl="0" algn="l">
              <a:lnSpc>
                <a:spcPct val="90000"/>
              </a:lnSpc>
              <a:spcBef>
                <a:spcPts val="500"/>
              </a:spcBef>
              <a:spcAft>
                <a:spcPts val="0"/>
              </a:spcAft>
              <a:buClr>
                <a:schemeClr val="dk1"/>
              </a:buClr>
              <a:buSzPct val="100000"/>
              <a:buFont typeface="Noto Sans Symbols"/>
              <a:buChar char="⮚"/>
            </a:pPr>
            <a:r>
              <a:rPr i="1" lang="en-US" sz="3800"/>
              <a:t>All export of goods to 250 countries.</a:t>
            </a:r>
            <a:br>
              <a:rPr lang="en-US" sz="3800"/>
            </a:br>
            <a:endParaRPr sz="3800"/>
          </a:p>
          <a:p>
            <a:pPr indent="-228600" lvl="1" marL="685800" rtl="0" algn="l">
              <a:lnSpc>
                <a:spcPct val="90000"/>
              </a:lnSpc>
              <a:spcBef>
                <a:spcPts val="500"/>
              </a:spcBef>
              <a:spcAft>
                <a:spcPts val="0"/>
              </a:spcAft>
              <a:buClr>
                <a:schemeClr val="dk1"/>
              </a:buClr>
              <a:buSzPct val="100000"/>
              <a:buFont typeface="Noto Sans Symbols"/>
              <a:buChar char="⮚"/>
            </a:pPr>
            <a:r>
              <a:rPr lang="en-US" sz="3800"/>
              <a:t>Intervals: Monthly.</a:t>
            </a:r>
            <a:br>
              <a:rPr lang="en-US" sz="3800"/>
            </a:br>
            <a:endParaRPr sz="3800"/>
          </a:p>
          <a:p>
            <a:pPr indent="-228600" lvl="1" marL="685800" rtl="0" algn="l">
              <a:lnSpc>
                <a:spcPct val="90000"/>
              </a:lnSpc>
              <a:spcBef>
                <a:spcPts val="500"/>
              </a:spcBef>
              <a:spcAft>
                <a:spcPts val="0"/>
              </a:spcAft>
              <a:buClr>
                <a:schemeClr val="dk1"/>
              </a:buClr>
              <a:buSzPct val="100000"/>
              <a:buFont typeface="Noto Sans Symbols"/>
              <a:buChar char="⮚"/>
            </a:pPr>
            <a:r>
              <a:rPr lang="en-US" sz="3800"/>
              <a:t>Available Variables: </a:t>
            </a:r>
            <a:r>
              <a:rPr b="1" lang="en-US" sz="3800"/>
              <a:t>Million ISK </a:t>
            </a:r>
            <a:r>
              <a:rPr lang="en-US" sz="3800"/>
              <a:t>and </a:t>
            </a:r>
            <a:r>
              <a:rPr b="1" lang="en-US" sz="3800"/>
              <a:t>Thousand Tonnes.</a:t>
            </a:r>
            <a:endParaRPr/>
          </a:p>
          <a:p>
            <a:pPr indent="-90804" lvl="0" marL="228600" rtl="0" algn="l">
              <a:lnSpc>
                <a:spcPct val="90000"/>
              </a:lnSpc>
              <a:spcBef>
                <a:spcPts val="1000"/>
              </a:spcBef>
              <a:spcAft>
                <a:spcPts val="0"/>
              </a:spcAft>
              <a:buClr>
                <a:schemeClr val="dk1"/>
              </a:buClr>
              <a:buSzPct val="100000"/>
              <a:buNone/>
            </a:pPr>
            <a:r>
              <a:t/>
            </a:r>
            <a:endParaRPr/>
          </a:p>
        </p:txBody>
      </p:sp>
      <p:pic>
        <p:nvPicPr>
          <p:cNvPr id="158" name="Google Shape;158;p5"/>
          <p:cNvPicPr preferRelativeResize="0"/>
          <p:nvPr/>
        </p:nvPicPr>
        <p:blipFill rotWithShape="1">
          <a:blip r:embed="rId3">
            <a:alphaModFix/>
          </a:blip>
          <a:srcRect b="0" l="0" r="0" t="0"/>
          <a:stretch/>
        </p:blipFill>
        <p:spPr>
          <a:xfrm>
            <a:off x="3274442" y="6217148"/>
            <a:ext cx="1290842" cy="463820"/>
          </a:xfrm>
          <a:prstGeom prst="rect">
            <a:avLst/>
          </a:prstGeom>
          <a:noFill/>
          <a:ln>
            <a:noFill/>
          </a:ln>
        </p:spPr>
      </p:pic>
      <p:pic>
        <p:nvPicPr>
          <p:cNvPr id="159" name="Google Shape;159;p5"/>
          <p:cNvPicPr preferRelativeResize="0"/>
          <p:nvPr/>
        </p:nvPicPr>
        <p:blipFill rotWithShape="1">
          <a:blip r:embed="rId4">
            <a:alphaModFix/>
          </a:blip>
          <a:srcRect b="0" l="0" r="0" t="0"/>
          <a:stretch/>
        </p:blipFill>
        <p:spPr>
          <a:xfrm>
            <a:off x="952509" y="6139889"/>
            <a:ext cx="1871382" cy="571501"/>
          </a:xfrm>
          <a:prstGeom prst="rect">
            <a:avLst/>
          </a:prstGeom>
          <a:noFill/>
          <a:ln>
            <a:noFill/>
          </a:ln>
        </p:spPr>
      </p:pic>
      <p:pic>
        <p:nvPicPr>
          <p:cNvPr descr="A logo with a letter c&#10;&#10;AI-generated content may be incorrect." id="160" name="Google Shape;160;p5"/>
          <p:cNvPicPr preferRelativeResize="0"/>
          <p:nvPr/>
        </p:nvPicPr>
        <p:blipFill rotWithShape="1">
          <a:blip r:embed="rId5">
            <a:alphaModFix/>
          </a:blip>
          <a:srcRect b="0" l="0" r="0" t="0"/>
          <a:stretch/>
        </p:blipFill>
        <p:spPr>
          <a:xfrm>
            <a:off x="4973014" y="6149349"/>
            <a:ext cx="568872" cy="571502"/>
          </a:xfrm>
          <a:prstGeom prst="rect">
            <a:avLst/>
          </a:prstGeom>
          <a:noFill/>
          <a:ln>
            <a:noFill/>
          </a:ln>
        </p:spPr>
      </p:pic>
      <p:pic>
        <p:nvPicPr>
          <p:cNvPr descr="A picture containing text, poster, font, symbol&#10;&#10;Description automatically generated" id="161" name="Google Shape;161;p5"/>
          <p:cNvPicPr preferRelativeResize="0"/>
          <p:nvPr/>
        </p:nvPicPr>
        <p:blipFill rotWithShape="1">
          <a:blip r:embed="rId6">
            <a:alphaModFix/>
          </a:blip>
          <a:srcRect b="0" l="0" r="0" t="0"/>
          <a:stretch/>
        </p:blipFill>
        <p:spPr>
          <a:xfrm>
            <a:off x="5928320" y="6031012"/>
            <a:ext cx="420495" cy="689839"/>
          </a:xfrm>
          <a:prstGeom prst="rect">
            <a:avLst/>
          </a:prstGeom>
          <a:noFill/>
          <a:ln>
            <a:noFill/>
          </a:ln>
        </p:spPr>
      </p:pic>
      <p:pic>
        <p:nvPicPr>
          <p:cNvPr descr="A black background with blue text&#10;&#10;AI-generated content may be incorrect." id="162" name="Google Shape;162;p5"/>
          <p:cNvPicPr preferRelativeResize="0"/>
          <p:nvPr/>
        </p:nvPicPr>
        <p:blipFill rotWithShape="1">
          <a:blip r:embed="rId7">
            <a:alphaModFix/>
          </a:blip>
          <a:srcRect b="0" l="0" r="0" t="0"/>
          <a:stretch/>
        </p:blipFill>
        <p:spPr>
          <a:xfrm>
            <a:off x="7897703" y="6217147"/>
            <a:ext cx="1106751" cy="423697"/>
          </a:xfrm>
          <a:prstGeom prst="rect">
            <a:avLst/>
          </a:prstGeom>
          <a:noFill/>
          <a:ln>
            <a:noFill/>
          </a:ln>
        </p:spPr>
      </p:pic>
      <p:pic>
        <p:nvPicPr>
          <p:cNvPr descr="University of Iceland" id="163" name="Google Shape;163;p5"/>
          <p:cNvPicPr preferRelativeResize="0"/>
          <p:nvPr/>
        </p:nvPicPr>
        <p:blipFill rotWithShape="1">
          <a:blip r:embed="rId8">
            <a:alphaModFix/>
          </a:blip>
          <a:srcRect b="0" l="0" r="0" t="0"/>
          <a:stretch/>
        </p:blipFill>
        <p:spPr>
          <a:xfrm>
            <a:off x="9234002" y="6205457"/>
            <a:ext cx="1229323" cy="487197"/>
          </a:xfrm>
          <a:prstGeom prst="rect">
            <a:avLst/>
          </a:prstGeom>
          <a:noFill/>
          <a:ln>
            <a:noFill/>
          </a:ln>
        </p:spPr>
      </p:pic>
      <p:pic>
        <p:nvPicPr>
          <p:cNvPr descr="A blue flag with yellow stars&#10;&#10;AI-generated content may be incorrect." id="164" name="Google Shape;164;p5"/>
          <p:cNvPicPr preferRelativeResize="0"/>
          <p:nvPr/>
        </p:nvPicPr>
        <p:blipFill rotWithShape="1">
          <a:blip r:embed="rId9">
            <a:alphaModFix/>
          </a:blip>
          <a:srcRect b="0" l="0" r="0" t="0"/>
          <a:stretch/>
        </p:blipFill>
        <p:spPr>
          <a:xfrm>
            <a:off x="6819169" y="6093406"/>
            <a:ext cx="726547" cy="736321"/>
          </a:xfrm>
          <a:prstGeom prst="rect">
            <a:avLst/>
          </a:prstGeom>
          <a:noFill/>
          <a:ln>
            <a:noFill/>
          </a:ln>
        </p:spPr>
      </p:pic>
      <p:pic>
        <p:nvPicPr>
          <p:cNvPr descr="A logo with blue letters&#10;&#10;AI-generated content may be incorrect." id="165" name="Google Shape;165;p5"/>
          <p:cNvPicPr preferRelativeResize="0"/>
          <p:nvPr/>
        </p:nvPicPr>
        <p:blipFill rotWithShape="1">
          <a:blip r:embed="rId10">
            <a:alphaModFix/>
          </a:blip>
          <a:srcRect b="0" l="0" r="0" t="0"/>
          <a:stretch/>
        </p:blipFill>
        <p:spPr>
          <a:xfrm>
            <a:off x="10692740" y="6217147"/>
            <a:ext cx="1164879" cy="46381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6"/>
          <p:cNvSpPr txBox="1"/>
          <p:nvPr>
            <p:ph type="title"/>
          </p:nvPr>
        </p:nvSpPr>
        <p:spPr>
          <a:xfrm>
            <a:off x="446314" y="166503"/>
            <a:ext cx="7019011" cy="80458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rPr b="1" lang="en-US" sz="4000"/>
              <a:t>Two rounds of training.</a:t>
            </a:r>
            <a:endParaRPr sz="4000"/>
          </a:p>
        </p:txBody>
      </p:sp>
      <p:sp>
        <p:nvSpPr>
          <p:cNvPr id="171" name="Google Shape;171;p6"/>
          <p:cNvSpPr txBox="1"/>
          <p:nvPr>
            <p:ph idx="1" type="body"/>
          </p:nvPr>
        </p:nvSpPr>
        <p:spPr>
          <a:xfrm>
            <a:off x="631371" y="2993289"/>
            <a:ext cx="10722429" cy="3183674"/>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72" name="Google Shape;172;p6"/>
          <p:cNvPicPr preferRelativeResize="0"/>
          <p:nvPr/>
        </p:nvPicPr>
        <p:blipFill rotWithShape="1">
          <a:blip r:embed="rId3">
            <a:alphaModFix/>
          </a:blip>
          <a:srcRect b="0" l="0" r="0" t="0"/>
          <a:stretch/>
        </p:blipFill>
        <p:spPr>
          <a:xfrm>
            <a:off x="3273034" y="6322018"/>
            <a:ext cx="1290842" cy="463820"/>
          </a:xfrm>
          <a:prstGeom prst="rect">
            <a:avLst/>
          </a:prstGeom>
          <a:noFill/>
          <a:ln>
            <a:noFill/>
          </a:ln>
        </p:spPr>
      </p:pic>
      <p:pic>
        <p:nvPicPr>
          <p:cNvPr id="173" name="Google Shape;173;p6"/>
          <p:cNvPicPr preferRelativeResize="0"/>
          <p:nvPr/>
        </p:nvPicPr>
        <p:blipFill rotWithShape="1">
          <a:blip r:embed="rId4">
            <a:alphaModFix/>
          </a:blip>
          <a:srcRect b="0" l="0" r="0" t="0"/>
          <a:stretch/>
        </p:blipFill>
        <p:spPr>
          <a:xfrm>
            <a:off x="927808" y="6234550"/>
            <a:ext cx="1871382" cy="571501"/>
          </a:xfrm>
          <a:prstGeom prst="rect">
            <a:avLst/>
          </a:prstGeom>
          <a:noFill/>
          <a:ln>
            <a:noFill/>
          </a:ln>
        </p:spPr>
      </p:pic>
      <p:pic>
        <p:nvPicPr>
          <p:cNvPr descr="A logo with a letter c&#10;&#10;AI-generated content may be incorrect." id="174" name="Google Shape;174;p6"/>
          <p:cNvPicPr preferRelativeResize="0"/>
          <p:nvPr/>
        </p:nvPicPr>
        <p:blipFill rotWithShape="1">
          <a:blip r:embed="rId5">
            <a:alphaModFix/>
          </a:blip>
          <a:srcRect b="0" l="0" r="0" t="0"/>
          <a:stretch/>
        </p:blipFill>
        <p:spPr>
          <a:xfrm>
            <a:off x="4960621" y="6221633"/>
            <a:ext cx="568872" cy="571502"/>
          </a:xfrm>
          <a:prstGeom prst="rect">
            <a:avLst/>
          </a:prstGeom>
          <a:noFill/>
          <a:ln>
            <a:noFill/>
          </a:ln>
        </p:spPr>
      </p:pic>
      <p:pic>
        <p:nvPicPr>
          <p:cNvPr descr="A picture containing text, poster, font, symbol&#10;&#10;Description automatically generated" id="175" name="Google Shape;175;p6"/>
          <p:cNvPicPr preferRelativeResize="0"/>
          <p:nvPr/>
        </p:nvPicPr>
        <p:blipFill rotWithShape="1">
          <a:blip r:embed="rId6">
            <a:alphaModFix/>
          </a:blip>
          <a:srcRect b="0" l="0" r="0" t="0"/>
          <a:stretch/>
        </p:blipFill>
        <p:spPr>
          <a:xfrm>
            <a:off x="5924830" y="6137990"/>
            <a:ext cx="420495" cy="689839"/>
          </a:xfrm>
          <a:prstGeom prst="rect">
            <a:avLst/>
          </a:prstGeom>
          <a:noFill/>
          <a:ln>
            <a:noFill/>
          </a:ln>
        </p:spPr>
      </p:pic>
      <p:pic>
        <p:nvPicPr>
          <p:cNvPr descr="A black background with blue text&#10;&#10;AI-generated content may be incorrect." id="176" name="Google Shape;176;p6"/>
          <p:cNvPicPr preferRelativeResize="0"/>
          <p:nvPr/>
        </p:nvPicPr>
        <p:blipFill rotWithShape="1">
          <a:blip r:embed="rId7">
            <a:alphaModFix/>
          </a:blip>
          <a:srcRect b="0" l="0" r="0" t="0"/>
          <a:stretch/>
        </p:blipFill>
        <p:spPr>
          <a:xfrm>
            <a:off x="7838567" y="6362141"/>
            <a:ext cx="1106751" cy="423697"/>
          </a:xfrm>
          <a:prstGeom prst="rect">
            <a:avLst/>
          </a:prstGeom>
          <a:noFill/>
          <a:ln>
            <a:noFill/>
          </a:ln>
        </p:spPr>
      </p:pic>
      <p:pic>
        <p:nvPicPr>
          <p:cNvPr descr="University of Iceland" id="177" name="Google Shape;177;p6"/>
          <p:cNvPicPr preferRelativeResize="0"/>
          <p:nvPr/>
        </p:nvPicPr>
        <p:blipFill rotWithShape="1">
          <a:blip r:embed="rId8">
            <a:alphaModFix/>
          </a:blip>
          <a:srcRect b="0" l="0" r="0" t="0"/>
          <a:stretch/>
        </p:blipFill>
        <p:spPr>
          <a:xfrm>
            <a:off x="9238169" y="6284851"/>
            <a:ext cx="1229323" cy="487197"/>
          </a:xfrm>
          <a:prstGeom prst="rect">
            <a:avLst/>
          </a:prstGeom>
          <a:noFill/>
          <a:ln>
            <a:noFill/>
          </a:ln>
        </p:spPr>
      </p:pic>
      <p:pic>
        <p:nvPicPr>
          <p:cNvPr descr="A blue flag with yellow stars&#10;&#10;AI-generated content may be incorrect." id="178" name="Google Shape;178;p6"/>
          <p:cNvPicPr preferRelativeResize="0"/>
          <p:nvPr/>
        </p:nvPicPr>
        <p:blipFill rotWithShape="1">
          <a:blip r:embed="rId9">
            <a:alphaModFix/>
          </a:blip>
          <a:srcRect b="0" l="0" r="0" t="0"/>
          <a:stretch/>
        </p:blipFill>
        <p:spPr>
          <a:xfrm>
            <a:off x="6819169" y="6139889"/>
            <a:ext cx="726547" cy="736321"/>
          </a:xfrm>
          <a:prstGeom prst="rect">
            <a:avLst/>
          </a:prstGeom>
          <a:noFill/>
          <a:ln>
            <a:noFill/>
          </a:ln>
        </p:spPr>
      </p:pic>
      <p:sp>
        <p:nvSpPr>
          <p:cNvPr id="179" name="Google Shape;179;p6"/>
          <p:cNvSpPr txBox="1"/>
          <p:nvPr/>
        </p:nvSpPr>
        <p:spPr>
          <a:xfrm>
            <a:off x="446314" y="1407064"/>
            <a:ext cx="1162168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Calibri"/>
                <a:ea typeface="Calibri"/>
                <a:cs typeface="Calibri"/>
                <a:sym typeface="Calibri"/>
              </a:rPr>
              <a:t>Prediction of export </a:t>
            </a:r>
            <a:endParaRPr/>
          </a:p>
          <a:p>
            <a:pPr indent="0" lvl="0" marL="0" marR="0" rtl="0" algn="l">
              <a:spcBef>
                <a:spcPts val="0"/>
              </a:spcBef>
              <a:spcAft>
                <a:spcPts val="0"/>
              </a:spcAft>
              <a:buNone/>
            </a:pPr>
            <a:r>
              <a:t/>
            </a:r>
            <a:endParaRPr b="1"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800">
              <a:solidFill>
                <a:schemeClr val="dk1"/>
              </a:solidFill>
              <a:latin typeface="Calibri"/>
              <a:ea typeface="Calibri"/>
              <a:cs typeface="Calibri"/>
              <a:sym typeface="Calibri"/>
            </a:endParaRPr>
          </a:p>
          <a:p>
            <a:pPr indent="-514350" lvl="0" marL="514350" marR="0" rtl="0" algn="l">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Total services to 250 countries in </a:t>
            </a:r>
            <a:r>
              <a:rPr b="1" lang="en-US" sz="2800">
                <a:solidFill>
                  <a:schemeClr val="dk1"/>
                </a:solidFill>
                <a:latin typeface="Calibri"/>
                <a:ea typeface="Calibri"/>
                <a:cs typeface="Calibri"/>
                <a:sym typeface="Calibri"/>
              </a:rPr>
              <a:t>MISK</a:t>
            </a:r>
            <a:endParaRPr b="1" sz="2400">
              <a:solidFill>
                <a:schemeClr val="dk1"/>
              </a:solidFill>
              <a:latin typeface="Calibri"/>
              <a:ea typeface="Calibri"/>
              <a:cs typeface="Calibri"/>
              <a:sym typeface="Calibri"/>
            </a:endParaRPr>
          </a:p>
          <a:p>
            <a:pPr indent="-457200" lvl="1" marL="914400" marR="0" rtl="0" algn="l">
              <a:spcBef>
                <a:spcPts val="0"/>
              </a:spcBef>
              <a:spcAft>
                <a:spcPts val="0"/>
              </a:spcAft>
              <a:buClr>
                <a:srgbClr val="000000"/>
              </a:buClr>
              <a:buSzPts val="2400"/>
              <a:buFont typeface="Noto Sans Symbols"/>
              <a:buChar char="⮚"/>
            </a:pPr>
            <a:r>
              <a:rPr b="0" i="0" lang="en-US" sz="2400" u="none" cap="none" strike="noStrike">
                <a:solidFill>
                  <a:srgbClr val="000000"/>
                </a:solidFill>
                <a:latin typeface="Arial"/>
                <a:ea typeface="Arial"/>
                <a:cs typeface="Arial"/>
                <a:sym typeface="Arial"/>
              </a:rPr>
              <a:t>future_sales= service export to 250 countries in </a:t>
            </a:r>
            <a:r>
              <a:rPr b="1" i="0" lang="en-US" sz="2400" u="none" cap="none" strike="noStrike">
                <a:solidFill>
                  <a:srgbClr val="000000"/>
                </a:solidFill>
                <a:latin typeface="Arial"/>
                <a:ea typeface="Arial"/>
                <a:cs typeface="Arial"/>
                <a:sym typeface="Arial"/>
              </a:rPr>
              <a:t>MISK</a:t>
            </a:r>
            <a:r>
              <a:rPr b="0" i="0" lang="en-US" sz="2400" u="none" cap="none" strike="noStrike">
                <a:solidFill>
                  <a:srgbClr val="000000"/>
                </a:solidFill>
                <a:latin typeface="Arial"/>
                <a:ea typeface="Arial"/>
                <a:cs typeface="Arial"/>
                <a:sym typeface="Arial"/>
              </a:rPr>
              <a:t> </a:t>
            </a:r>
            <a:endParaRPr/>
          </a:p>
          <a:p>
            <a:pPr indent="-304800" lvl="1" marL="914400" marR="0" rtl="0" algn="l">
              <a:spcBef>
                <a:spcPts val="0"/>
              </a:spcBef>
              <a:spcAft>
                <a:spcPts val="0"/>
              </a:spcAft>
              <a:buClr>
                <a:schemeClr val="dk1"/>
              </a:buClr>
              <a:buSzPts val="2400"/>
              <a:buFont typeface="Noto Sans Symbols"/>
              <a:buNone/>
            </a:pPr>
            <a:r>
              <a:t/>
            </a:r>
            <a:endParaRPr b="1" i="0" sz="2400" u="none" cap="none" strike="noStrike">
              <a:solidFill>
                <a:schemeClr val="dk1"/>
              </a:solidFill>
              <a:latin typeface="Calibri"/>
              <a:ea typeface="Calibri"/>
              <a:cs typeface="Calibri"/>
              <a:sym typeface="Calibri"/>
            </a:endParaRPr>
          </a:p>
          <a:p>
            <a:pPr indent="-514350" lvl="0" marL="514350" marR="0" rtl="0" algn="l">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Total goods to USA in </a:t>
            </a:r>
            <a:r>
              <a:rPr b="1" lang="en-US" sz="2800">
                <a:solidFill>
                  <a:schemeClr val="dk1"/>
                </a:solidFill>
                <a:latin typeface="Calibri"/>
                <a:ea typeface="Calibri"/>
                <a:cs typeface="Calibri"/>
                <a:sym typeface="Calibri"/>
              </a:rPr>
              <a:t>Thousand tonnes</a:t>
            </a:r>
            <a:endParaRPr/>
          </a:p>
          <a:p>
            <a:pPr indent="-457200" lvl="1" marL="914400" marR="0" rtl="0" algn="l">
              <a:spcBef>
                <a:spcPts val="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future_orders</a:t>
            </a:r>
            <a:r>
              <a:rPr b="0" i="0" lang="en-US" sz="2400" u="none" cap="none" strike="noStrike">
                <a:solidFill>
                  <a:srgbClr val="000000"/>
                </a:solidFill>
                <a:latin typeface="Arial"/>
                <a:ea typeface="Arial"/>
                <a:cs typeface="Arial"/>
                <a:sym typeface="Arial"/>
              </a:rPr>
              <a:t>= total export of goods to US in </a:t>
            </a:r>
            <a:r>
              <a:rPr b="1" i="0" lang="en-US" sz="2400" u="none" cap="none" strike="noStrike">
                <a:solidFill>
                  <a:srgbClr val="000000"/>
                </a:solidFill>
                <a:latin typeface="Arial"/>
                <a:ea typeface="Arial"/>
                <a:cs typeface="Arial"/>
                <a:sym typeface="Arial"/>
              </a:rPr>
              <a:t>Tonnes</a:t>
            </a:r>
            <a:endParaRPr/>
          </a:p>
        </p:txBody>
      </p:sp>
      <p:pic>
        <p:nvPicPr>
          <p:cNvPr descr="A logo with blue letters&#10;&#10;AI-generated content may be incorrect." id="180" name="Google Shape;180;p6"/>
          <p:cNvPicPr preferRelativeResize="0"/>
          <p:nvPr/>
        </p:nvPicPr>
        <p:blipFill rotWithShape="1">
          <a:blip r:embed="rId10">
            <a:alphaModFix/>
          </a:blip>
          <a:srcRect b="0" l="0" r="0" t="0"/>
          <a:stretch/>
        </p:blipFill>
        <p:spPr>
          <a:xfrm>
            <a:off x="10685303" y="6329316"/>
            <a:ext cx="1164879" cy="46381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7"/>
          <p:cNvSpPr txBox="1"/>
          <p:nvPr>
            <p:ph type="title"/>
          </p:nvPr>
        </p:nvSpPr>
        <p:spPr>
          <a:xfrm>
            <a:off x="476992" y="222622"/>
            <a:ext cx="7367649" cy="71552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r>
              <a:rPr lang="en-US" sz="4000"/>
              <a:t>Two rounds of training cont.</a:t>
            </a:r>
            <a:endParaRPr sz="4000"/>
          </a:p>
        </p:txBody>
      </p:sp>
      <p:sp>
        <p:nvSpPr>
          <p:cNvPr id="186" name="Google Shape;186;p7"/>
          <p:cNvSpPr txBox="1"/>
          <p:nvPr>
            <p:ph idx="1" type="body"/>
          </p:nvPr>
        </p:nvSpPr>
        <p:spPr>
          <a:xfrm>
            <a:off x="477000" y="1928201"/>
            <a:ext cx="11374500" cy="3681900"/>
          </a:xfrm>
          <a:prstGeom prst="rect">
            <a:avLst/>
          </a:prstGeom>
          <a:noFill/>
          <a:ln>
            <a:noFill/>
          </a:ln>
        </p:spPr>
        <p:txBody>
          <a:bodyPr anchorCtr="0" anchor="t" bIns="45700" lIns="91425" spcFirstLastPara="1" rIns="91425" wrap="square" tIns="45700">
            <a:normAutofit fontScale="85000" lnSpcReduction="10000"/>
          </a:bodyPr>
          <a:lstStyle/>
          <a:p>
            <a:pPr indent="-87630" lvl="1" marL="685800" rtl="0" algn="l">
              <a:lnSpc>
                <a:spcPct val="90000"/>
              </a:lnSpc>
              <a:spcBef>
                <a:spcPts val="0"/>
              </a:spcBef>
              <a:spcAft>
                <a:spcPts val="0"/>
              </a:spcAft>
              <a:buClr>
                <a:schemeClr val="dk1"/>
              </a:buClr>
              <a:buSzPct val="100000"/>
              <a:buNone/>
            </a:pPr>
            <a:r>
              <a:t/>
            </a:r>
            <a:endParaRPr b="1"/>
          </a:p>
          <a:p>
            <a:pPr indent="-442912" lvl="0" marL="457200" rtl="0" algn="l">
              <a:lnSpc>
                <a:spcPct val="90000"/>
              </a:lnSpc>
              <a:spcBef>
                <a:spcPts val="1000"/>
              </a:spcBef>
              <a:spcAft>
                <a:spcPts val="0"/>
              </a:spcAft>
              <a:buClr>
                <a:srgbClr val="000000"/>
              </a:buClr>
              <a:buSzPct val="100000"/>
              <a:buFont typeface="Noto Sans Symbols"/>
              <a:buChar char="⮚"/>
            </a:pPr>
            <a:r>
              <a:rPr lang="en-US" sz="3000">
                <a:solidFill>
                  <a:srgbClr val="000000"/>
                </a:solidFill>
                <a:latin typeface="Arial"/>
                <a:ea typeface="Arial"/>
                <a:cs typeface="Arial"/>
                <a:sym typeface="Arial"/>
              </a:rPr>
              <a:t>Training window is 12 months with 20% validation &amp; 80% training data.</a:t>
            </a:r>
            <a:endParaRPr/>
          </a:p>
          <a:p>
            <a:pPr indent="-292735" lvl="0" marL="457200" rtl="0" algn="l">
              <a:lnSpc>
                <a:spcPct val="90000"/>
              </a:lnSpc>
              <a:spcBef>
                <a:spcPts val="1000"/>
              </a:spcBef>
              <a:spcAft>
                <a:spcPts val="0"/>
              </a:spcAft>
              <a:buClr>
                <a:schemeClr val="dk1"/>
              </a:buClr>
              <a:buSzPct val="100000"/>
              <a:buFont typeface="Noto Sans Symbols"/>
              <a:buNone/>
            </a:pPr>
            <a:r>
              <a:t/>
            </a:r>
            <a:endParaRPr>
              <a:solidFill>
                <a:srgbClr val="000000"/>
              </a:solidFill>
              <a:latin typeface="Arial"/>
              <a:ea typeface="Arial"/>
              <a:cs typeface="Arial"/>
              <a:sym typeface="Arial"/>
            </a:endParaRPr>
          </a:p>
          <a:p>
            <a:pPr indent="-442912" lvl="0" marL="457200" rtl="0" algn="l">
              <a:lnSpc>
                <a:spcPct val="90000"/>
              </a:lnSpc>
              <a:spcBef>
                <a:spcPts val="1000"/>
              </a:spcBef>
              <a:spcAft>
                <a:spcPts val="0"/>
              </a:spcAft>
              <a:buClr>
                <a:srgbClr val="000000"/>
              </a:buClr>
              <a:buSzPct val="100000"/>
              <a:buFont typeface="Noto Sans Symbols"/>
              <a:buChar char="⮚"/>
            </a:pPr>
            <a:r>
              <a:rPr lang="en-US" sz="3000">
                <a:solidFill>
                  <a:srgbClr val="000000"/>
                </a:solidFill>
                <a:latin typeface="Arial"/>
                <a:ea typeface="Arial"/>
                <a:cs typeface="Arial"/>
                <a:sym typeface="Arial"/>
              </a:rPr>
              <a:t>24 months unseen data with 12-month forwarding sliding window</a:t>
            </a:r>
            <a:endParaRPr/>
          </a:p>
          <a:p>
            <a:pPr indent="-292735" lvl="0" marL="457200" rtl="0" algn="l">
              <a:lnSpc>
                <a:spcPct val="90000"/>
              </a:lnSpc>
              <a:spcBef>
                <a:spcPts val="1000"/>
              </a:spcBef>
              <a:spcAft>
                <a:spcPts val="0"/>
              </a:spcAft>
              <a:buClr>
                <a:schemeClr val="dk1"/>
              </a:buClr>
              <a:buSzPct val="100000"/>
              <a:buFont typeface="Noto Sans Symbols"/>
              <a:buNone/>
            </a:pPr>
            <a:r>
              <a:t/>
            </a:r>
            <a:endParaRPr>
              <a:solidFill>
                <a:srgbClr val="000000"/>
              </a:solidFill>
              <a:latin typeface="Arial"/>
              <a:ea typeface="Arial"/>
              <a:cs typeface="Arial"/>
              <a:sym typeface="Arial"/>
            </a:endParaRPr>
          </a:p>
          <a:p>
            <a:pPr indent="-442912" lvl="0" marL="457200" rtl="0" algn="l">
              <a:lnSpc>
                <a:spcPct val="90000"/>
              </a:lnSpc>
              <a:spcBef>
                <a:spcPts val="1000"/>
              </a:spcBef>
              <a:spcAft>
                <a:spcPts val="0"/>
              </a:spcAft>
              <a:buClr>
                <a:srgbClr val="000000"/>
              </a:buClr>
              <a:buSzPct val="100000"/>
              <a:buFont typeface="Noto Sans Symbols"/>
              <a:buChar char="⮚"/>
            </a:pPr>
            <a:r>
              <a:rPr lang="en-US" sz="3000">
                <a:solidFill>
                  <a:srgbClr val="000000"/>
                </a:solidFill>
                <a:latin typeface="Arial"/>
                <a:ea typeface="Arial"/>
                <a:cs typeface="Arial"/>
                <a:sym typeface="Arial"/>
              </a:rPr>
              <a:t>Data used for training TensorFlow-LSTM.</a:t>
            </a:r>
            <a:endParaRPr/>
          </a:p>
          <a:p>
            <a:pPr indent="-273367" lvl="1" marL="742950" rtl="0" algn="l">
              <a:lnSpc>
                <a:spcPct val="90000"/>
              </a:lnSpc>
              <a:spcBef>
                <a:spcPts val="500"/>
              </a:spcBef>
              <a:spcAft>
                <a:spcPts val="0"/>
              </a:spcAft>
              <a:buClr>
                <a:srgbClr val="000000"/>
              </a:buClr>
              <a:buSzPct val="100000"/>
              <a:buChar char="•"/>
            </a:pPr>
            <a:r>
              <a:rPr lang="en-US" sz="2600">
                <a:solidFill>
                  <a:srgbClr val="000000"/>
                </a:solidFill>
                <a:latin typeface="Arial"/>
                <a:ea typeface="Arial"/>
                <a:cs typeface="Arial"/>
                <a:sym typeface="Arial"/>
              </a:rPr>
              <a:t>Real data in feature vector including 90 months of datapoints</a:t>
            </a:r>
            <a:endParaRPr/>
          </a:p>
          <a:p>
            <a:pPr indent="-273367" lvl="1" marL="742950" rtl="0" algn="l">
              <a:lnSpc>
                <a:spcPct val="90000"/>
              </a:lnSpc>
              <a:spcBef>
                <a:spcPts val="500"/>
              </a:spcBef>
              <a:spcAft>
                <a:spcPts val="0"/>
              </a:spcAft>
              <a:buClr>
                <a:schemeClr val="dk1"/>
              </a:buClr>
              <a:buSzPct val="100000"/>
              <a:buChar char="•"/>
            </a:pPr>
            <a:r>
              <a:rPr lang="en-US" sz="2600"/>
              <a:t>Data is normalized before training and validation starts</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8"/>
          <p:cNvSpPr txBox="1"/>
          <p:nvPr>
            <p:ph type="title"/>
          </p:nvPr>
        </p:nvSpPr>
        <p:spPr>
          <a:xfrm>
            <a:off x="716280" y="176149"/>
            <a:ext cx="8775192" cy="105524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r>
              <a:rPr lang="en-US" sz="4000"/>
              <a:t>First round of training -services.</a:t>
            </a:r>
            <a:br>
              <a:rPr lang="en-US" sz="4000"/>
            </a:br>
            <a:r>
              <a:rPr lang="en-US" sz="3600"/>
              <a:t>Total sales of services to 250 countries.</a:t>
            </a:r>
            <a:endParaRPr sz="3600"/>
          </a:p>
        </p:txBody>
      </p:sp>
      <p:sp>
        <p:nvSpPr>
          <p:cNvPr id="192" name="Google Shape;192;p8"/>
          <p:cNvSpPr txBox="1"/>
          <p:nvPr>
            <p:ph idx="1" type="body"/>
          </p:nvPr>
        </p:nvSpPr>
        <p:spPr>
          <a:xfrm>
            <a:off x="698428" y="1386916"/>
            <a:ext cx="11580658" cy="45982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Single feature for sales of services, no external data</a:t>
            </a:r>
            <a:endParaRPr/>
          </a:p>
        </p:txBody>
      </p:sp>
      <p:pic>
        <p:nvPicPr>
          <p:cNvPr id="193" name="Google Shape;193;p8"/>
          <p:cNvPicPr preferRelativeResize="0"/>
          <p:nvPr/>
        </p:nvPicPr>
        <p:blipFill rotWithShape="1">
          <a:blip r:embed="rId3">
            <a:alphaModFix/>
          </a:blip>
          <a:srcRect b="0" l="0" r="0" t="0"/>
          <a:stretch/>
        </p:blipFill>
        <p:spPr>
          <a:xfrm>
            <a:off x="3274442" y="6217148"/>
            <a:ext cx="1290842" cy="463820"/>
          </a:xfrm>
          <a:prstGeom prst="rect">
            <a:avLst/>
          </a:prstGeom>
          <a:noFill/>
          <a:ln>
            <a:noFill/>
          </a:ln>
        </p:spPr>
      </p:pic>
      <p:pic>
        <p:nvPicPr>
          <p:cNvPr id="194" name="Google Shape;194;p8"/>
          <p:cNvPicPr preferRelativeResize="0"/>
          <p:nvPr/>
        </p:nvPicPr>
        <p:blipFill rotWithShape="1">
          <a:blip r:embed="rId4">
            <a:alphaModFix/>
          </a:blip>
          <a:srcRect b="0" l="0" r="0" t="0"/>
          <a:stretch/>
        </p:blipFill>
        <p:spPr>
          <a:xfrm>
            <a:off x="952509" y="6139889"/>
            <a:ext cx="1871382" cy="571501"/>
          </a:xfrm>
          <a:prstGeom prst="rect">
            <a:avLst/>
          </a:prstGeom>
          <a:noFill/>
          <a:ln>
            <a:noFill/>
          </a:ln>
        </p:spPr>
      </p:pic>
      <p:pic>
        <p:nvPicPr>
          <p:cNvPr descr="A logo with a letter c&#10;&#10;AI-generated content may be incorrect." id="195" name="Google Shape;195;p8"/>
          <p:cNvPicPr preferRelativeResize="0"/>
          <p:nvPr/>
        </p:nvPicPr>
        <p:blipFill rotWithShape="1">
          <a:blip r:embed="rId5">
            <a:alphaModFix/>
          </a:blip>
          <a:srcRect b="0" l="0" r="0" t="0"/>
          <a:stretch/>
        </p:blipFill>
        <p:spPr>
          <a:xfrm>
            <a:off x="4973014" y="6149349"/>
            <a:ext cx="568872" cy="571502"/>
          </a:xfrm>
          <a:prstGeom prst="rect">
            <a:avLst/>
          </a:prstGeom>
          <a:noFill/>
          <a:ln>
            <a:noFill/>
          </a:ln>
        </p:spPr>
      </p:pic>
      <p:pic>
        <p:nvPicPr>
          <p:cNvPr descr="A picture containing text, poster, font, symbol&#10;&#10;Description automatically generated" id="196" name="Google Shape;196;p8"/>
          <p:cNvPicPr preferRelativeResize="0"/>
          <p:nvPr/>
        </p:nvPicPr>
        <p:blipFill rotWithShape="1">
          <a:blip r:embed="rId6">
            <a:alphaModFix/>
          </a:blip>
          <a:srcRect b="0" l="0" r="0" t="0"/>
          <a:stretch/>
        </p:blipFill>
        <p:spPr>
          <a:xfrm>
            <a:off x="5928320" y="6031012"/>
            <a:ext cx="420495" cy="689839"/>
          </a:xfrm>
          <a:prstGeom prst="rect">
            <a:avLst/>
          </a:prstGeom>
          <a:noFill/>
          <a:ln>
            <a:noFill/>
          </a:ln>
        </p:spPr>
      </p:pic>
      <p:pic>
        <p:nvPicPr>
          <p:cNvPr descr="A black background with blue text&#10;&#10;AI-generated content may be incorrect." id="197" name="Google Shape;197;p8"/>
          <p:cNvPicPr preferRelativeResize="0"/>
          <p:nvPr/>
        </p:nvPicPr>
        <p:blipFill rotWithShape="1">
          <a:blip r:embed="rId7">
            <a:alphaModFix/>
          </a:blip>
          <a:srcRect b="0" l="0" r="0" t="0"/>
          <a:stretch/>
        </p:blipFill>
        <p:spPr>
          <a:xfrm>
            <a:off x="7897703" y="6217147"/>
            <a:ext cx="1106751" cy="423697"/>
          </a:xfrm>
          <a:prstGeom prst="rect">
            <a:avLst/>
          </a:prstGeom>
          <a:noFill/>
          <a:ln>
            <a:noFill/>
          </a:ln>
        </p:spPr>
      </p:pic>
      <p:pic>
        <p:nvPicPr>
          <p:cNvPr descr="University of Iceland" id="198" name="Google Shape;198;p8"/>
          <p:cNvPicPr preferRelativeResize="0"/>
          <p:nvPr/>
        </p:nvPicPr>
        <p:blipFill rotWithShape="1">
          <a:blip r:embed="rId8">
            <a:alphaModFix/>
          </a:blip>
          <a:srcRect b="0" l="0" r="0" t="0"/>
          <a:stretch/>
        </p:blipFill>
        <p:spPr>
          <a:xfrm>
            <a:off x="9234002" y="6205457"/>
            <a:ext cx="1229323" cy="487197"/>
          </a:xfrm>
          <a:prstGeom prst="rect">
            <a:avLst/>
          </a:prstGeom>
          <a:noFill/>
          <a:ln>
            <a:noFill/>
          </a:ln>
        </p:spPr>
      </p:pic>
      <p:pic>
        <p:nvPicPr>
          <p:cNvPr descr="A blue flag with yellow stars&#10;&#10;AI-generated content may be incorrect." id="199" name="Google Shape;199;p8"/>
          <p:cNvPicPr preferRelativeResize="0"/>
          <p:nvPr/>
        </p:nvPicPr>
        <p:blipFill rotWithShape="1">
          <a:blip r:embed="rId9">
            <a:alphaModFix/>
          </a:blip>
          <a:srcRect b="0" l="0" r="0" t="0"/>
          <a:stretch/>
        </p:blipFill>
        <p:spPr>
          <a:xfrm>
            <a:off x="6819169" y="6093406"/>
            <a:ext cx="726547" cy="736321"/>
          </a:xfrm>
          <a:prstGeom prst="rect">
            <a:avLst/>
          </a:prstGeom>
          <a:noFill/>
          <a:ln>
            <a:noFill/>
          </a:ln>
        </p:spPr>
      </p:pic>
      <p:pic>
        <p:nvPicPr>
          <p:cNvPr descr="A logo with blue letters&#10;&#10;AI-generated content may be incorrect." id="200" name="Google Shape;200;p8"/>
          <p:cNvPicPr preferRelativeResize="0"/>
          <p:nvPr/>
        </p:nvPicPr>
        <p:blipFill rotWithShape="1">
          <a:blip r:embed="rId10">
            <a:alphaModFix/>
          </a:blip>
          <a:srcRect b="0" l="0" r="0" t="0"/>
          <a:stretch/>
        </p:blipFill>
        <p:spPr>
          <a:xfrm>
            <a:off x="10692740" y="6217147"/>
            <a:ext cx="1164879" cy="463819"/>
          </a:xfrm>
          <a:prstGeom prst="rect">
            <a:avLst/>
          </a:prstGeom>
          <a:noFill/>
          <a:ln>
            <a:noFill/>
          </a:ln>
        </p:spPr>
      </p:pic>
      <p:pic>
        <p:nvPicPr>
          <p:cNvPr descr="A graph of a sales report&#10;&#10;AI-generated content may be incorrect." id="201" name="Google Shape;201;p8"/>
          <p:cNvPicPr preferRelativeResize="0"/>
          <p:nvPr/>
        </p:nvPicPr>
        <p:blipFill rotWithShape="1">
          <a:blip r:embed="rId11">
            <a:alphaModFix/>
          </a:blip>
          <a:srcRect b="0" l="0" r="0" t="0"/>
          <a:stretch/>
        </p:blipFill>
        <p:spPr>
          <a:xfrm>
            <a:off x="6214848" y="2214364"/>
            <a:ext cx="5795549" cy="3069293"/>
          </a:xfrm>
          <a:prstGeom prst="rect">
            <a:avLst/>
          </a:prstGeom>
          <a:noFill/>
          <a:ln>
            <a:noFill/>
          </a:ln>
        </p:spPr>
      </p:pic>
      <p:pic>
        <p:nvPicPr>
          <p:cNvPr descr="A graph with blue and orange lines&#10;&#10;AI-generated content may be incorrect." id="202" name="Google Shape;202;p8"/>
          <p:cNvPicPr preferRelativeResize="0"/>
          <p:nvPr/>
        </p:nvPicPr>
        <p:blipFill rotWithShape="1">
          <a:blip r:embed="rId12">
            <a:alphaModFix/>
          </a:blip>
          <a:srcRect b="0" l="0" r="0" t="0"/>
          <a:stretch/>
        </p:blipFill>
        <p:spPr>
          <a:xfrm>
            <a:off x="92538" y="2214364"/>
            <a:ext cx="5611422" cy="308203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9"/>
          <p:cNvSpPr txBox="1"/>
          <p:nvPr>
            <p:ph type="title"/>
          </p:nvPr>
        </p:nvSpPr>
        <p:spPr>
          <a:xfrm>
            <a:off x="563880" y="109093"/>
            <a:ext cx="8775192" cy="10127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r>
              <a:rPr lang="en-US" sz="4000"/>
              <a:t>Second round of training – goods.</a:t>
            </a:r>
            <a:br>
              <a:rPr lang="en-US" sz="4000"/>
            </a:br>
            <a:r>
              <a:rPr lang="en-US" sz="3600"/>
              <a:t>Total export of goods to USA.</a:t>
            </a:r>
            <a:endParaRPr sz="3600"/>
          </a:p>
        </p:txBody>
      </p:sp>
      <p:sp>
        <p:nvSpPr>
          <p:cNvPr id="208" name="Google Shape;208;p9"/>
          <p:cNvSpPr txBox="1"/>
          <p:nvPr>
            <p:ph idx="1" type="body"/>
          </p:nvPr>
        </p:nvSpPr>
        <p:spPr>
          <a:xfrm>
            <a:off x="585397" y="1341272"/>
            <a:ext cx="10722429" cy="408416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Single feature for USA export of goods, no external data</a:t>
            </a:r>
            <a:endParaRPr/>
          </a:p>
        </p:txBody>
      </p:sp>
      <p:pic>
        <p:nvPicPr>
          <p:cNvPr id="209" name="Google Shape;209;p9"/>
          <p:cNvPicPr preferRelativeResize="0"/>
          <p:nvPr/>
        </p:nvPicPr>
        <p:blipFill rotWithShape="1">
          <a:blip r:embed="rId3">
            <a:alphaModFix/>
          </a:blip>
          <a:srcRect b="0" l="0" r="0" t="0"/>
          <a:stretch/>
        </p:blipFill>
        <p:spPr>
          <a:xfrm>
            <a:off x="3274442" y="6217148"/>
            <a:ext cx="1290842" cy="463820"/>
          </a:xfrm>
          <a:prstGeom prst="rect">
            <a:avLst/>
          </a:prstGeom>
          <a:noFill/>
          <a:ln>
            <a:noFill/>
          </a:ln>
        </p:spPr>
      </p:pic>
      <p:pic>
        <p:nvPicPr>
          <p:cNvPr id="210" name="Google Shape;210;p9"/>
          <p:cNvPicPr preferRelativeResize="0"/>
          <p:nvPr/>
        </p:nvPicPr>
        <p:blipFill rotWithShape="1">
          <a:blip r:embed="rId4">
            <a:alphaModFix/>
          </a:blip>
          <a:srcRect b="0" l="0" r="0" t="0"/>
          <a:stretch/>
        </p:blipFill>
        <p:spPr>
          <a:xfrm>
            <a:off x="952509" y="6139889"/>
            <a:ext cx="1871382" cy="571501"/>
          </a:xfrm>
          <a:prstGeom prst="rect">
            <a:avLst/>
          </a:prstGeom>
          <a:noFill/>
          <a:ln>
            <a:noFill/>
          </a:ln>
        </p:spPr>
      </p:pic>
      <p:pic>
        <p:nvPicPr>
          <p:cNvPr descr="A logo with a letter c&#10;&#10;AI-generated content may be incorrect." id="211" name="Google Shape;211;p9"/>
          <p:cNvPicPr preferRelativeResize="0"/>
          <p:nvPr/>
        </p:nvPicPr>
        <p:blipFill rotWithShape="1">
          <a:blip r:embed="rId5">
            <a:alphaModFix/>
          </a:blip>
          <a:srcRect b="0" l="0" r="0" t="0"/>
          <a:stretch/>
        </p:blipFill>
        <p:spPr>
          <a:xfrm>
            <a:off x="4973014" y="6149349"/>
            <a:ext cx="568872" cy="571502"/>
          </a:xfrm>
          <a:prstGeom prst="rect">
            <a:avLst/>
          </a:prstGeom>
          <a:noFill/>
          <a:ln>
            <a:noFill/>
          </a:ln>
        </p:spPr>
      </p:pic>
      <p:pic>
        <p:nvPicPr>
          <p:cNvPr descr="A picture containing text, poster, font, symbol&#10;&#10;Description automatically generated" id="212" name="Google Shape;212;p9"/>
          <p:cNvPicPr preferRelativeResize="0"/>
          <p:nvPr/>
        </p:nvPicPr>
        <p:blipFill rotWithShape="1">
          <a:blip r:embed="rId6">
            <a:alphaModFix/>
          </a:blip>
          <a:srcRect b="0" l="0" r="0" t="0"/>
          <a:stretch/>
        </p:blipFill>
        <p:spPr>
          <a:xfrm>
            <a:off x="5928320" y="6031012"/>
            <a:ext cx="420495" cy="689839"/>
          </a:xfrm>
          <a:prstGeom prst="rect">
            <a:avLst/>
          </a:prstGeom>
          <a:noFill/>
          <a:ln>
            <a:noFill/>
          </a:ln>
        </p:spPr>
      </p:pic>
      <p:pic>
        <p:nvPicPr>
          <p:cNvPr descr="A black background with blue text&#10;&#10;AI-generated content may be incorrect." id="213" name="Google Shape;213;p9"/>
          <p:cNvPicPr preferRelativeResize="0"/>
          <p:nvPr/>
        </p:nvPicPr>
        <p:blipFill rotWithShape="1">
          <a:blip r:embed="rId7">
            <a:alphaModFix/>
          </a:blip>
          <a:srcRect b="0" l="0" r="0" t="0"/>
          <a:stretch/>
        </p:blipFill>
        <p:spPr>
          <a:xfrm>
            <a:off x="7897703" y="6217147"/>
            <a:ext cx="1106751" cy="423697"/>
          </a:xfrm>
          <a:prstGeom prst="rect">
            <a:avLst/>
          </a:prstGeom>
          <a:noFill/>
          <a:ln>
            <a:noFill/>
          </a:ln>
        </p:spPr>
      </p:pic>
      <p:pic>
        <p:nvPicPr>
          <p:cNvPr descr="University of Iceland" id="214" name="Google Shape;214;p9"/>
          <p:cNvPicPr preferRelativeResize="0"/>
          <p:nvPr/>
        </p:nvPicPr>
        <p:blipFill rotWithShape="1">
          <a:blip r:embed="rId8">
            <a:alphaModFix/>
          </a:blip>
          <a:srcRect b="0" l="0" r="0" t="0"/>
          <a:stretch/>
        </p:blipFill>
        <p:spPr>
          <a:xfrm>
            <a:off x="9234002" y="6205457"/>
            <a:ext cx="1229323" cy="487197"/>
          </a:xfrm>
          <a:prstGeom prst="rect">
            <a:avLst/>
          </a:prstGeom>
          <a:noFill/>
          <a:ln>
            <a:noFill/>
          </a:ln>
        </p:spPr>
      </p:pic>
      <p:pic>
        <p:nvPicPr>
          <p:cNvPr descr="A blue flag with yellow stars&#10;&#10;AI-generated content may be incorrect." id="215" name="Google Shape;215;p9"/>
          <p:cNvPicPr preferRelativeResize="0"/>
          <p:nvPr/>
        </p:nvPicPr>
        <p:blipFill rotWithShape="1">
          <a:blip r:embed="rId9">
            <a:alphaModFix/>
          </a:blip>
          <a:srcRect b="0" l="0" r="0" t="0"/>
          <a:stretch/>
        </p:blipFill>
        <p:spPr>
          <a:xfrm>
            <a:off x="6819169" y="6093406"/>
            <a:ext cx="726547" cy="736321"/>
          </a:xfrm>
          <a:prstGeom prst="rect">
            <a:avLst/>
          </a:prstGeom>
          <a:noFill/>
          <a:ln>
            <a:noFill/>
          </a:ln>
        </p:spPr>
      </p:pic>
      <p:pic>
        <p:nvPicPr>
          <p:cNvPr descr="A logo with blue letters&#10;&#10;AI-generated content may be incorrect." id="216" name="Google Shape;216;p9"/>
          <p:cNvPicPr preferRelativeResize="0"/>
          <p:nvPr/>
        </p:nvPicPr>
        <p:blipFill rotWithShape="1">
          <a:blip r:embed="rId10">
            <a:alphaModFix/>
          </a:blip>
          <a:srcRect b="0" l="0" r="0" t="0"/>
          <a:stretch/>
        </p:blipFill>
        <p:spPr>
          <a:xfrm>
            <a:off x="10692740" y="6217147"/>
            <a:ext cx="1164879" cy="463819"/>
          </a:xfrm>
          <a:prstGeom prst="rect">
            <a:avLst/>
          </a:prstGeom>
          <a:noFill/>
          <a:ln>
            <a:noFill/>
          </a:ln>
        </p:spPr>
      </p:pic>
      <p:pic>
        <p:nvPicPr>
          <p:cNvPr descr="A graph of a graph&#10;&#10;AI-generated content may be incorrect." id="217" name="Google Shape;217;p9"/>
          <p:cNvPicPr preferRelativeResize="0"/>
          <p:nvPr/>
        </p:nvPicPr>
        <p:blipFill rotWithShape="1">
          <a:blip r:embed="rId11">
            <a:alphaModFix/>
          </a:blip>
          <a:srcRect b="0" l="0" r="0" t="0"/>
          <a:stretch/>
        </p:blipFill>
        <p:spPr>
          <a:xfrm>
            <a:off x="6138567" y="2185499"/>
            <a:ext cx="5928138" cy="3110896"/>
          </a:xfrm>
          <a:prstGeom prst="rect">
            <a:avLst/>
          </a:prstGeom>
          <a:noFill/>
          <a:ln>
            <a:noFill/>
          </a:ln>
        </p:spPr>
      </p:pic>
      <p:pic>
        <p:nvPicPr>
          <p:cNvPr descr="A graph of a graph&#10;&#10;AI-generated content may be incorrect." id="218" name="Google Shape;218;p9"/>
          <p:cNvPicPr preferRelativeResize="0"/>
          <p:nvPr/>
        </p:nvPicPr>
        <p:blipFill rotWithShape="1">
          <a:blip r:embed="rId12">
            <a:alphaModFix/>
          </a:blip>
          <a:srcRect b="0" l="0" r="0" t="0"/>
          <a:stretch/>
        </p:blipFill>
        <p:spPr>
          <a:xfrm>
            <a:off x="171913" y="2185499"/>
            <a:ext cx="5573689" cy="311089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0"/>
          <p:cNvSpPr txBox="1"/>
          <p:nvPr>
            <p:ph type="title"/>
          </p:nvPr>
        </p:nvSpPr>
        <p:spPr>
          <a:xfrm>
            <a:off x="195979" y="278945"/>
            <a:ext cx="8300816" cy="94488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rPr b="1" lang="en-US" sz="4000"/>
              <a:t>Take out from the training rounds</a:t>
            </a:r>
            <a:endParaRPr b="1" sz="4000">
              <a:solidFill>
                <a:srgbClr val="FF0000"/>
              </a:solidFill>
            </a:endParaRPr>
          </a:p>
        </p:txBody>
      </p:sp>
      <p:sp>
        <p:nvSpPr>
          <p:cNvPr id="224" name="Google Shape;224;p10"/>
          <p:cNvSpPr txBox="1"/>
          <p:nvPr>
            <p:ph idx="1" type="body"/>
          </p:nvPr>
        </p:nvSpPr>
        <p:spPr>
          <a:xfrm>
            <a:off x="631371" y="2993289"/>
            <a:ext cx="10722429" cy="3183674"/>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25" name="Google Shape;225;p10"/>
          <p:cNvPicPr preferRelativeResize="0"/>
          <p:nvPr/>
        </p:nvPicPr>
        <p:blipFill rotWithShape="1">
          <a:blip r:embed="rId3">
            <a:alphaModFix/>
          </a:blip>
          <a:srcRect b="0" l="0" r="0" t="0"/>
          <a:stretch/>
        </p:blipFill>
        <p:spPr>
          <a:xfrm>
            <a:off x="3274442" y="6217148"/>
            <a:ext cx="1290842" cy="463820"/>
          </a:xfrm>
          <a:prstGeom prst="rect">
            <a:avLst/>
          </a:prstGeom>
          <a:noFill/>
          <a:ln>
            <a:noFill/>
          </a:ln>
        </p:spPr>
      </p:pic>
      <p:pic>
        <p:nvPicPr>
          <p:cNvPr id="226" name="Google Shape;226;p10"/>
          <p:cNvPicPr preferRelativeResize="0"/>
          <p:nvPr/>
        </p:nvPicPr>
        <p:blipFill rotWithShape="1">
          <a:blip r:embed="rId4">
            <a:alphaModFix/>
          </a:blip>
          <a:srcRect b="0" l="0" r="0" t="0"/>
          <a:stretch/>
        </p:blipFill>
        <p:spPr>
          <a:xfrm>
            <a:off x="952509" y="6139889"/>
            <a:ext cx="1871382" cy="571501"/>
          </a:xfrm>
          <a:prstGeom prst="rect">
            <a:avLst/>
          </a:prstGeom>
          <a:noFill/>
          <a:ln>
            <a:noFill/>
          </a:ln>
        </p:spPr>
      </p:pic>
      <p:pic>
        <p:nvPicPr>
          <p:cNvPr descr="A logo with a letter c&#10;&#10;AI-generated content may be incorrect." id="227" name="Google Shape;227;p10"/>
          <p:cNvPicPr preferRelativeResize="0"/>
          <p:nvPr/>
        </p:nvPicPr>
        <p:blipFill rotWithShape="1">
          <a:blip r:embed="rId5">
            <a:alphaModFix/>
          </a:blip>
          <a:srcRect b="0" l="0" r="0" t="0"/>
          <a:stretch/>
        </p:blipFill>
        <p:spPr>
          <a:xfrm>
            <a:off x="4973014" y="6149349"/>
            <a:ext cx="568872" cy="571502"/>
          </a:xfrm>
          <a:prstGeom prst="rect">
            <a:avLst/>
          </a:prstGeom>
          <a:noFill/>
          <a:ln>
            <a:noFill/>
          </a:ln>
        </p:spPr>
      </p:pic>
      <p:pic>
        <p:nvPicPr>
          <p:cNvPr descr="A picture containing text, poster, font, symbol&#10;&#10;Description automatically generated" id="228" name="Google Shape;228;p10"/>
          <p:cNvPicPr preferRelativeResize="0"/>
          <p:nvPr/>
        </p:nvPicPr>
        <p:blipFill rotWithShape="1">
          <a:blip r:embed="rId6">
            <a:alphaModFix/>
          </a:blip>
          <a:srcRect b="0" l="0" r="0" t="0"/>
          <a:stretch/>
        </p:blipFill>
        <p:spPr>
          <a:xfrm>
            <a:off x="5928320" y="6031012"/>
            <a:ext cx="420495" cy="689839"/>
          </a:xfrm>
          <a:prstGeom prst="rect">
            <a:avLst/>
          </a:prstGeom>
          <a:noFill/>
          <a:ln>
            <a:noFill/>
          </a:ln>
        </p:spPr>
      </p:pic>
      <p:pic>
        <p:nvPicPr>
          <p:cNvPr descr="A black background with blue text&#10;&#10;AI-generated content may be incorrect." id="229" name="Google Shape;229;p10"/>
          <p:cNvPicPr preferRelativeResize="0"/>
          <p:nvPr/>
        </p:nvPicPr>
        <p:blipFill rotWithShape="1">
          <a:blip r:embed="rId7">
            <a:alphaModFix/>
          </a:blip>
          <a:srcRect b="0" l="0" r="0" t="0"/>
          <a:stretch/>
        </p:blipFill>
        <p:spPr>
          <a:xfrm>
            <a:off x="7744556" y="6287693"/>
            <a:ext cx="1106751" cy="423697"/>
          </a:xfrm>
          <a:prstGeom prst="rect">
            <a:avLst/>
          </a:prstGeom>
          <a:noFill/>
          <a:ln>
            <a:noFill/>
          </a:ln>
        </p:spPr>
      </p:pic>
      <p:pic>
        <p:nvPicPr>
          <p:cNvPr descr="University of Iceland" id="230" name="Google Shape;230;p10"/>
          <p:cNvPicPr preferRelativeResize="0"/>
          <p:nvPr/>
        </p:nvPicPr>
        <p:blipFill rotWithShape="1">
          <a:blip r:embed="rId8">
            <a:alphaModFix/>
          </a:blip>
          <a:srcRect b="0" l="0" r="0" t="0"/>
          <a:stretch/>
        </p:blipFill>
        <p:spPr>
          <a:xfrm>
            <a:off x="9157362" y="6200578"/>
            <a:ext cx="1229323" cy="487197"/>
          </a:xfrm>
          <a:prstGeom prst="rect">
            <a:avLst/>
          </a:prstGeom>
          <a:noFill/>
          <a:ln>
            <a:noFill/>
          </a:ln>
        </p:spPr>
      </p:pic>
      <p:pic>
        <p:nvPicPr>
          <p:cNvPr descr="A blue flag with yellow stars&#10;&#10;AI-generated content may be incorrect." id="231" name="Google Shape;231;p10"/>
          <p:cNvPicPr preferRelativeResize="0"/>
          <p:nvPr/>
        </p:nvPicPr>
        <p:blipFill rotWithShape="1">
          <a:blip r:embed="rId9">
            <a:alphaModFix/>
          </a:blip>
          <a:srcRect b="0" l="0" r="0" t="0"/>
          <a:stretch/>
        </p:blipFill>
        <p:spPr>
          <a:xfrm>
            <a:off x="6819169" y="6093406"/>
            <a:ext cx="726547" cy="736321"/>
          </a:xfrm>
          <a:prstGeom prst="rect">
            <a:avLst/>
          </a:prstGeom>
          <a:noFill/>
          <a:ln>
            <a:noFill/>
          </a:ln>
        </p:spPr>
      </p:pic>
      <p:sp>
        <p:nvSpPr>
          <p:cNvPr id="232" name="Google Shape;232;p10"/>
          <p:cNvSpPr txBox="1"/>
          <p:nvPr/>
        </p:nvSpPr>
        <p:spPr>
          <a:xfrm>
            <a:off x="195979" y="1277142"/>
            <a:ext cx="11996021"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The use of a 12-month rolling window on 24 months of unobserved data introduces uncertainty; a 12-month forecast horizon may be more reliable.</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The feature vector includes two real-world datasets:</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Total export of services to 250 countries (in millions of </a:t>
            </a:r>
            <a:r>
              <a:rPr b="1" lang="en-US" sz="2400">
                <a:solidFill>
                  <a:schemeClr val="dk1"/>
                </a:solidFill>
                <a:latin typeface="Calibri"/>
                <a:ea typeface="Calibri"/>
                <a:cs typeface="Calibri"/>
                <a:sym typeface="Calibri"/>
              </a:rPr>
              <a:t>ISK</a:t>
            </a:r>
            <a:r>
              <a:rPr lang="en-US" sz="2400">
                <a:solidFill>
                  <a:schemeClr val="dk1"/>
                </a:solidFill>
                <a:latin typeface="Calibri"/>
                <a:ea typeface="Calibri"/>
                <a:cs typeface="Calibri"/>
                <a:sym typeface="Calibri"/>
              </a:rPr>
              <a:t>)</a:t>
            </a:r>
            <a:endParaRPr/>
          </a:p>
          <a:p>
            <a:pPr indent="-457200" lvl="0" marL="457200" marR="0" rtl="0" algn="l">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Total exports to the US (in thousand of </a:t>
            </a:r>
            <a:r>
              <a:rPr b="1" lang="en-US" sz="2400">
                <a:solidFill>
                  <a:schemeClr val="dk1"/>
                </a:solidFill>
                <a:latin typeface="Calibri"/>
                <a:ea typeface="Calibri"/>
                <a:cs typeface="Calibri"/>
                <a:sym typeface="Calibri"/>
              </a:rPr>
              <a:t>Tonnes</a:t>
            </a:r>
            <a:r>
              <a:rPr lang="en-US"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No. Additionally, features from external datasets were included in the feature vector to improve model training. We found that the 'total exports to the US' feature had little predictive power for forecasting the sale of services. No correlation was done at this stage between the real-world datasets.</a:t>
            </a:r>
            <a:endParaRPr/>
          </a:p>
        </p:txBody>
      </p:sp>
      <p:pic>
        <p:nvPicPr>
          <p:cNvPr descr="A logo with blue letters&#10;&#10;AI-generated content may be incorrect." id="233" name="Google Shape;233;p10"/>
          <p:cNvPicPr preferRelativeResize="0"/>
          <p:nvPr/>
        </p:nvPicPr>
        <p:blipFill rotWithShape="1">
          <a:blip r:embed="rId10">
            <a:alphaModFix/>
          </a:blip>
          <a:srcRect b="0" l="0" r="0" t="0"/>
          <a:stretch/>
        </p:blipFill>
        <p:spPr>
          <a:xfrm>
            <a:off x="10692740" y="6217147"/>
            <a:ext cx="1164879" cy="46381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1"/>
          <p:cNvSpPr txBox="1"/>
          <p:nvPr>
            <p:ph type="title"/>
          </p:nvPr>
        </p:nvSpPr>
        <p:spPr>
          <a:xfrm>
            <a:off x="91222" y="407207"/>
            <a:ext cx="5580708" cy="7300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r>
              <a:rPr lang="en-US" sz="4000"/>
              <a:t>Equations for  Accuracy</a:t>
            </a:r>
            <a:endParaRPr/>
          </a:p>
        </p:txBody>
      </p:sp>
      <p:pic>
        <p:nvPicPr>
          <p:cNvPr descr="A math problem with equations&#10;&#10;AI-generated content may be incorrect." id="240" name="Google Shape;240;p11"/>
          <p:cNvPicPr preferRelativeResize="0"/>
          <p:nvPr/>
        </p:nvPicPr>
        <p:blipFill rotWithShape="1">
          <a:blip r:embed="rId3">
            <a:alphaModFix/>
          </a:blip>
          <a:srcRect b="0" l="0" r="0" t="0"/>
          <a:stretch/>
        </p:blipFill>
        <p:spPr>
          <a:xfrm>
            <a:off x="8167726" y="1342607"/>
            <a:ext cx="3864926" cy="3198200"/>
          </a:xfrm>
          <a:prstGeom prst="rect">
            <a:avLst/>
          </a:prstGeom>
          <a:noFill/>
          <a:ln>
            <a:noFill/>
          </a:ln>
        </p:spPr>
      </p:pic>
      <p:pic>
        <p:nvPicPr>
          <p:cNvPr descr="A white and black text on a white background&#10;&#10;AI-generated content may be incorrect." id="241" name="Google Shape;241;p11"/>
          <p:cNvPicPr preferRelativeResize="0"/>
          <p:nvPr/>
        </p:nvPicPr>
        <p:blipFill rotWithShape="1">
          <a:blip r:embed="rId4">
            <a:alphaModFix/>
          </a:blip>
          <a:srcRect b="0" l="0" r="0" t="0"/>
          <a:stretch/>
        </p:blipFill>
        <p:spPr>
          <a:xfrm>
            <a:off x="91222" y="1342607"/>
            <a:ext cx="3667695" cy="4747573"/>
          </a:xfrm>
          <a:prstGeom prst="rect">
            <a:avLst/>
          </a:prstGeom>
          <a:noFill/>
          <a:ln>
            <a:noFill/>
          </a:ln>
        </p:spPr>
      </p:pic>
      <p:pic>
        <p:nvPicPr>
          <p:cNvPr descr="A screenshot of a paper&#10;&#10;AI-generated content may be incorrect." id="242" name="Google Shape;242;p11"/>
          <p:cNvPicPr preferRelativeResize="0"/>
          <p:nvPr/>
        </p:nvPicPr>
        <p:blipFill rotWithShape="1">
          <a:blip r:embed="rId5">
            <a:alphaModFix/>
          </a:blip>
          <a:srcRect b="0" l="0" r="0" t="0"/>
          <a:stretch/>
        </p:blipFill>
        <p:spPr>
          <a:xfrm>
            <a:off x="4194563" y="1342607"/>
            <a:ext cx="3534410" cy="4747573"/>
          </a:xfrm>
          <a:prstGeom prst="rect">
            <a:avLst/>
          </a:prstGeom>
          <a:noFill/>
          <a:ln>
            <a:noFill/>
          </a:ln>
        </p:spPr>
      </p:pic>
      <p:pic>
        <p:nvPicPr>
          <p:cNvPr id="243" name="Google Shape;243;p11"/>
          <p:cNvPicPr preferRelativeResize="0"/>
          <p:nvPr/>
        </p:nvPicPr>
        <p:blipFill rotWithShape="1">
          <a:blip r:embed="rId6">
            <a:alphaModFix/>
          </a:blip>
          <a:srcRect b="0" l="0" r="0" t="0"/>
          <a:stretch/>
        </p:blipFill>
        <p:spPr>
          <a:xfrm>
            <a:off x="3274442" y="6217148"/>
            <a:ext cx="1290842" cy="463820"/>
          </a:xfrm>
          <a:prstGeom prst="rect">
            <a:avLst/>
          </a:prstGeom>
          <a:noFill/>
          <a:ln>
            <a:noFill/>
          </a:ln>
        </p:spPr>
      </p:pic>
      <p:pic>
        <p:nvPicPr>
          <p:cNvPr id="244" name="Google Shape;244;p11"/>
          <p:cNvPicPr preferRelativeResize="0"/>
          <p:nvPr/>
        </p:nvPicPr>
        <p:blipFill rotWithShape="1">
          <a:blip r:embed="rId7">
            <a:alphaModFix/>
          </a:blip>
          <a:srcRect b="0" l="0" r="0" t="0"/>
          <a:stretch/>
        </p:blipFill>
        <p:spPr>
          <a:xfrm>
            <a:off x="952509" y="6139889"/>
            <a:ext cx="1871382" cy="571501"/>
          </a:xfrm>
          <a:prstGeom prst="rect">
            <a:avLst/>
          </a:prstGeom>
          <a:noFill/>
          <a:ln>
            <a:noFill/>
          </a:ln>
        </p:spPr>
      </p:pic>
      <p:pic>
        <p:nvPicPr>
          <p:cNvPr descr="A logo with a letter c&#10;&#10;AI-generated content may be incorrect." id="245" name="Google Shape;245;p11"/>
          <p:cNvPicPr preferRelativeResize="0"/>
          <p:nvPr/>
        </p:nvPicPr>
        <p:blipFill rotWithShape="1">
          <a:blip r:embed="rId8">
            <a:alphaModFix/>
          </a:blip>
          <a:srcRect b="0" l="0" r="0" t="0"/>
          <a:stretch/>
        </p:blipFill>
        <p:spPr>
          <a:xfrm>
            <a:off x="4973014" y="6149349"/>
            <a:ext cx="568872" cy="571502"/>
          </a:xfrm>
          <a:prstGeom prst="rect">
            <a:avLst/>
          </a:prstGeom>
          <a:noFill/>
          <a:ln>
            <a:noFill/>
          </a:ln>
        </p:spPr>
      </p:pic>
      <p:pic>
        <p:nvPicPr>
          <p:cNvPr descr="A picture containing text, poster, font, symbol&#10;&#10;Description automatically generated" id="246" name="Google Shape;246;p11"/>
          <p:cNvPicPr preferRelativeResize="0"/>
          <p:nvPr/>
        </p:nvPicPr>
        <p:blipFill rotWithShape="1">
          <a:blip r:embed="rId9">
            <a:alphaModFix/>
          </a:blip>
          <a:srcRect b="0" l="0" r="0" t="0"/>
          <a:stretch/>
        </p:blipFill>
        <p:spPr>
          <a:xfrm>
            <a:off x="5939130" y="6090180"/>
            <a:ext cx="420495" cy="689839"/>
          </a:xfrm>
          <a:prstGeom prst="rect">
            <a:avLst/>
          </a:prstGeom>
          <a:noFill/>
          <a:ln>
            <a:noFill/>
          </a:ln>
        </p:spPr>
      </p:pic>
      <p:pic>
        <p:nvPicPr>
          <p:cNvPr descr="A black background with blue text&#10;&#10;AI-generated content may be incorrect." id="247" name="Google Shape;247;p11"/>
          <p:cNvPicPr preferRelativeResize="0"/>
          <p:nvPr/>
        </p:nvPicPr>
        <p:blipFill rotWithShape="1">
          <a:blip r:embed="rId10">
            <a:alphaModFix/>
          </a:blip>
          <a:srcRect b="0" l="0" r="0" t="0"/>
          <a:stretch/>
        </p:blipFill>
        <p:spPr>
          <a:xfrm>
            <a:off x="7897703" y="6217147"/>
            <a:ext cx="1106751" cy="423697"/>
          </a:xfrm>
          <a:prstGeom prst="rect">
            <a:avLst/>
          </a:prstGeom>
          <a:noFill/>
          <a:ln>
            <a:noFill/>
          </a:ln>
        </p:spPr>
      </p:pic>
      <p:pic>
        <p:nvPicPr>
          <p:cNvPr descr="University of Iceland" id="248" name="Google Shape;248;p11"/>
          <p:cNvPicPr preferRelativeResize="0"/>
          <p:nvPr/>
        </p:nvPicPr>
        <p:blipFill rotWithShape="1">
          <a:blip r:embed="rId11">
            <a:alphaModFix/>
          </a:blip>
          <a:srcRect b="0" l="0" r="0" t="0"/>
          <a:stretch/>
        </p:blipFill>
        <p:spPr>
          <a:xfrm>
            <a:off x="9234002" y="6205457"/>
            <a:ext cx="1229323" cy="487197"/>
          </a:xfrm>
          <a:prstGeom prst="rect">
            <a:avLst/>
          </a:prstGeom>
          <a:noFill/>
          <a:ln>
            <a:noFill/>
          </a:ln>
        </p:spPr>
      </p:pic>
      <p:pic>
        <p:nvPicPr>
          <p:cNvPr descr="A blue flag with yellow stars&#10;&#10;AI-generated content may be incorrect." id="249" name="Google Shape;249;p11"/>
          <p:cNvPicPr preferRelativeResize="0"/>
          <p:nvPr/>
        </p:nvPicPr>
        <p:blipFill rotWithShape="1">
          <a:blip r:embed="rId12">
            <a:alphaModFix/>
          </a:blip>
          <a:srcRect b="0" l="0" r="0" t="0"/>
          <a:stretch/>
        </p:blipFill>
        <p:spPr>
          <a:xfrm>
            <a:off x="6819169" y="6093406"/>
            <a:ext cx="726547" cy="736321"/>
          </a:xfrm>
          <a:prstGeom prst="rect">
            <a:avLst/>
          </a:prstGeom>
          <a:noFill/>
          <a:ln>
            <a:noFill/>
          </a:ln>
        </p:spPr>
      </p:pic>
      <p:pic>
        <p:nvPicPr>
          <p:cNvPr descr="A logo with blue letters&#10;&#10;AI-generated content may be incorrect." id="250" name="Google Shape;250;p11"/>
          <p:cNvPicPr preferRelativeResize="0"/>
          <p:nvPr/>
        </p:nvPicPr>
        <p:blipFill rotWithShape="1">
          <a:blip r:embed="rId13">
            <a:alphaModFix/>
          </a:blip>
          <a:srcRect b="0" l="0" r="0" t="0"/>
          <a:stretch/>
        </p:blipFill>
        <p:spPr>
          <a:xfrm>
            <a:off x="10692740" y="6217147"/>
            <a:ext cx="1164879" cy="46381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enutzerdefiniertes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a:themeElements>
    <a:clrScheme name="Graustuf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2020-06-25T08:10:04Z</dcterms:created>
  <dc:creator>Microsoft Office User</dc:creator>
</cp:coreProperties>
</file>